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48" r:id="rId1"/>
  </p:sldMasterIdLst>
  <p:notesMasterIdLst>
    <p:notesMasterId r:id="rId26"/>
  </p:notesMasterIdLst>
  <p:handoutMasterIdLst>
    <p:handoutMasterId r:id="rId27"/>
  </p:handoutMasterIdLst>
  <p:sldIdLst>
    <p:sldId id="256" r:id="rId2"/>
    <p:sldId id="257" r:id="rId3"/>
    <p:sldId id="274" r:id="rId4"/>
    <p:sldId id="280" r:id="rId5"/>
    <p:sldId id="281" r:id="rId6"/>
    <p:sldId id="282" r:id="rId7"/>
    <p:sldId id="283" r:id="rId8"/>
    <p:sldId id="284" r:id="rId9"/>
    <p:sldId id="267" r:id="rId10"/>
    <p:sldId id="285" r:id="rId11"/>
    <p:sldId id="286" r:id="rId12"/>
    <p:sldId id="287" r:id="rId13"/>
    <p:sldId id="288" r:id="rId14"/>
    <p:sldId id="298" r:id="rId15"/>
    <p:sldId id="299" r:id="rId16"/>
    <p:sldId id="300" r:id="rId17"/>
    <p:sldId id="292" r:id="rId18"/>
    <p:sldId id="293" r:id="rId19"/>
    <p:sldId id="294" r:id="rId20"/>
    <p:sldId id="295" r:id="rId21"/>
    <p:sldId id="296" r:id="rId22"/>
    <p:sldId id="273" r:id="rId23"/>
    <p:sldId id="265" r:id="rId24"/>
    <p:sldId id="301" r:id="rId25"/>
  </p:sldIdLst>
  <p:sldSz cx="12192000" cy="6858000"/>
  <p:notesSz cx="6858000" cy="9144000"/>
  <p:defaultText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9983" autoAdjust="0"/>
    <p:restoredTop sz="76820" autoAdjust="0"/>
  </p:normalViewPr>
  <p:slideViewPr>
    <p:cSldViewPr snapToGrid="0">
      <p:cViewPr varScale="1">
        <p:scale>
          <a:sx n="76" d="100"/>
          <a:sy n="76" d="100"/>
        </p:scale>
        <p:origin x="120" y="2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handoutMaster" Target="handoutMasters/handoutMaster1.xml"/><Relationship Id="rId30" Type="http://schemas.openxmlformats.org/officeDocument/2006/relationships/theme" Target="theme/theme1.xml"/></Relationships>
</file>

<file path=ppt/diagrams/_rels/data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 Id="rId4" Type="http://schemas.openxmlformats.org/officeDocument/2006/relationships/image" Target="../media/image7.png"/></Relationships>
</file>

<file path=ppt/diagrams/_rels/drawing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 Id="rId4" Type="http://schemas.openxmlformats.org/officeDocument/2006/relationships/image" Target="../media/image7.png"/></Relationships>
</file>

<file path=ppt/diagrams/colors1.xml><?xml version="1.0" encoding="utf-8"?>
<dgm:colorsDef xmlns:dgm="http://schemas.openxmlformats.org/drawingml/2006/diagram" xmlns:a="http://schemas.openxmlformats.org/drawingml/2006/main" uniqueId="urn:microsoft.com/office/officeart/2018/5/colors/Iconchunking_neutralbg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a:alpha val="0"/>
      </a:schemeClr>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169786D-0567-49AE-AADC-AEA70D64D0DF}" type="doc">
      <dgm:prSet loTypeId="urn:microsoft.com/office/officeart/2018/2/layout/IconVerticalSolidList" loCatId="icon" qsTypeId="urn:microsoft.com/office/officeart/2005/8/quickstyle/simple1" qsCatId="simple" csTypeId="urn:microsoft.com/office/officeart/2018/5/colors/Iconchunking_neutralbg_colorful5" csCatId="colorful" phldr="1"/>
      <dgm:spPr/>
      <dgm:t>
        <a:bodyPr/>
        <a:lstStyle/>
        <a:p>
          <a:endParaRPr lang="en-US"/>
        </a:p>
      </dgm:t>
    </dgm:pt>
    <dgm:pt modelId="{5F322D38-1E09-4935-A7EB-AF07EBEC74D7}">
      <dgm:prSet/>
      <dgm:spPr/>
      <dgm:t>
        <a:bodyPr/>
        <a:lstStyle/>
        <a:p>
          <a:r>
            <a:rPr lang="en-US" dirty="0"/>
            <a:t>TensorFlow</a:t>
          </a:r>
        </a:p>
      </dgm:t>
    </dgm:pt>
    <dgm:pt modelId="{162272BB-FD30-42BB-BE11-2F32EF2EA990}" type="parTrans" cxnId="{AEA36092-88ED-4056-9DDD-513969999CC5}">
      <dgm:prSet/>
      <dgm:spPr/>
      <dgm:t>
        <a:bodyPr/>
        <a:lstStyle/>
        <a:p>
          <a:endParaRPr lang="en-US"/>
        </a:p>
      </dgm:t>
    </dgm:pt>
    <dgm:pt modelId="{A3F0B234-6446-4F87-9831-A96F884E2BBC}" type="sibTrans" cxnId="{AEA36092-88ED-4056-9DDD-513969999CC5}">
      <dgm:prSet/>
      <dgm:spPr/>
      <dgm:t>
        <a:bodyPr/>
        <a:lstStyle/>
        <a:p>
          <a:endParaRPr lang="en-US"/>
        </a:p>
      </dgm:t>
    </dgm:pt>
    <dgm:pt modelId="{03A9CF9F-0D4B-4F53-92BE-DE306AABF15E}">
      <dgm:prSet/>
      <dgm:spPr/>
      <dgm:t>
        <a:bodyPr/>
        <a:lstStyle/>
        <a:p>
          <a:r>
            <a:rPr lang="en-US" dirty="0"/>
            <a:t>NumPy</a:t>
          </a:r>
        </a:p>
      </dgm:t>
    </dgm:pt>
    <dgm:pt modelId="{B1DA7101-2348-4329-87DE-2B6E1B9BC10E}" type="parTrans" cxnId="{9DA6BEEB-D6C7-460D-B2B5-F020DDD08612}">
      <dgm:prSet/>
      <dgm:spPr/>
      <dgm:t>
        <a:bodyPr/>
        <a:lstStyle/>
        <a:p>
          <a:endParaRPr lang="en-US"/>
        </a:p>
      </dgm:t>
    </dgm:pt>
    <dgm:pt modelId="{62D774D6-8572-4C05-8364-D40809BC7E0C}" type="sibTrans" cxnId="{9DA6BEEB-D6C7-460D-B2B5-F020DDD08612}">
      <dgm:prSet/>
      <dgm:spPr/>
      <dgm:t>
        <a:bodyPr/>
        <a:lstStyle/>
        <a:p>
          <a:endParaRPr lang="en-US"/>
        </a:p>
      </dgm:t>
    </dgm:pt>
    <dgm:pt modelId="{D16A9ECD-455C-4567-9B34-13543C1A7490}">
      <dgm:prSet/>
      <dgm:spPr/>
      <dgm:t>
        <a:bodyPr/>
        <a:lstStyle/>
        <a:p>
          <a:r>
            <a:rPr lang="en-US" dirty="0"/>
            <a:t>Scikit-learn (metrics)</a:t>
          </a:r>
        </a:p>
      </dgm:t>
    </dgm:pt>
    <dgm:pt modelId="{E5150CA8-2B90-4406-803C-09647E971C48}" type="parTrans" cxnId="{8CF0F79D-8E9D-4BF4-A543-5F03D989615C}">
      <dgm:prSet/>
      <dgm:spPr/>
      <dgm:t>
        <a:bodyPr/>
        <a:lstStyle/>
        <a:p>
          <a:endParaRPr lang="en-US"/>
        </a:p>
      </dgm:t>
    </dgm:pt>
    <dgm:pt modelId="{1ED4598F-72A4-4720-AD11-596BA2EB8323}" type="sibTrans" cxnId="{8CF0F79D-8E9D-4BF4-A543-5F03D989615C}">
      <dgm:prSet/>
      <dgm:spPr/>
      <dgm:t>
        <a:bodyPr/>
        <a:lstStyle/>
        <a:p>
          <a:endParaRPr lang="en-US"/>
        </a:p>
      </dgm:t>
    </dgm:pt>
    <dgm:pt modelId="{6A925BE9-3652-4F7F-84AB-E0A3F7F3A696}">
      <dgm:prSet/>
      <dgm:spPr/>
      <dgm:t>
        <a:bodyPr/>
        <a:lstStyle/>
        <a:p>
          <a:r>
            <a:rPr lang="en-US" dirty="0"/>
            <a:t>Matplotlib</a:t>
          </a:r>
        </a:p>
      </dgm:t>
    </dgm:pt>
    <dgm:pt modelId="{317BA101-4936-41A0-ADC6-C7D6DCB87D92}" type="parTrans" cxnId="{9D9489F0-888E-41F7-88E0-05911F2880A0}">
      <dgm:prSet/>
      <dgm:spPr/>
      <dgm:t>
        <a:bodyPr/>
        <a:lstStyle/>
        <a:p>
          <a:endParaRPr lang="en-US"/>
        </a:p>
      </dgm:t>
    </dgm:pt>
    <dgm:pt modelId="{712DB0E4-7709-43DF-B710-F0B4D4D9250A}" type="sibTrans" cxnId="{9D9489F0-888E-41F7-88E0-05911F2880A0}">
      <dgm:prSet/>
      <dgm:spPr/>
      <dgm:t>
        <a:bodyPr/>
        <a:lstStyle/>
        <a:p>
          <a:endParaRPr lang="en-US"/>
        </a:p>
      </dgm:t>
    </dgm:pt>
    <dgm:pt modelId="{8EB0FE33-7BB3-401F-831B-7C194B7E6A3F}" type="pres">
      <dgm:prSet presAssocID="{E169786D-0567-49AE-AADC-AEA70D64D0DF}" presName="root" presStyleCnt="0">
        <dgm:presLayoutVars>
          <dgm:dir/>
          <dgm:resizeHandles val="exact"/>
        </dgm:presLayoutVars>
      </dgm:prSet>
      <dgm:spPr/>
    </dgm:pt>
    <dgm:pt modelId="{96EA0464-ECAE-485A-B3FC-FE41B727F0A0}" type="pres">
      <dgm:prSet presAssocID="{5F322D38-1E09-4935-A7EB-AF07EBEC74D7}" presName="compNode" presStyleCnt="0"/>
      <dgm:spPr/>
    </dgm:pt>
    <dgm:pt modelId="{43B0006E-E51D-4562-A45B-8920A682E29A}" type="pres">
      <dgm:prSet presAssocID="{5F322D38-1E09-4935-A7EB-AF07EBEC74D7}" presName="bgRect" presStyleLbl="bgShp" presStyleIdx="0" presStyleCnt="4"/>
      <dgm:spPr/>
    </dgm:pt>
    <dgm:pt modelId="{3FBAE9ED-A65E-4E4F-B006-44E5520A1D7B}" type="pres">
      <dgm:prSet presAssocID="{5F322D38-1E09-4935-A7EB-AF07EBEC74D7}" presName="iconRect" presStyleLbl="node1" presStyleIdx="0" presStyleCnt="4"/>
      <dgm:spPr>
        <a:blipFill>
          <a:blip xmlns:r="http://schemas.openxmlformats.org/officeDocument/2006/relationships" r:embed="rId1"/>
          <a:srcRect/>
          <a:stretch>
            <a:fillRect t="-4000" b="-4000"/>
          </a:stretch>
        </a:blipFill>
        <a:ln>
          <a:noFill/>
        </a:ln>
      </dgm:spPr>
    </dgm:pt>
    <dgm:pt modelId="{33BC1718-702E-4F5B-AAFA-66563755B279}" type="pres">
      <dgm:prSet presAssocID="{5F322D38-1E09-4935-A7EB-AF07EBEC74D7}" presName="spaceRect" presStyleCnt="0"/>
      <dgm:spPr/>
    </dgm:pt>
    <dgm:pt modelId="{0956CBB4-B88A-4893-AD04-EFC84DBCB50B}" type="pres">
      <dgm:prSet presAssocID="{5F322D38-1E09-4935-A7EB-AF07EBEC74D7}" presName="parTx" presStyleLbl="revTx" presStyleIdx="0" presStyleCnt="4">
        <dgm:presLayoutVars>
          <dgm:chMax val="0"/>
          <dgm:chPref val="0"/>
        </dgm:presLayoutVars>
      </dgm:prSet>
      <dgm:spPr/>
    </dgm:pt>
    <dgm:pt modelId="{B5135BDB-5C42-4AA0-B9BD-5A3A4E3D543A}" type="pres">
      <dgm:prSet presAssocID="{A3F0B234-6446-4F87-9831-A96F884E2BBC}" presName="sibTrans" presStyleCnt="0"/>
      <dgm:spPr/>
    </dgm:pt>
    <dgm:pt modelId="{DD6913B4-21D4-4CB6-8720-6DED887BFDA3}" type="pres">
      <dgm:prSet presAssocID="{03A9CF9F-0D4B-4F53-92BE-DE306AABF15E}" presName="compNode" presStyleCnt="0"/>
      <dgm:spPr/>
    </dgm:pt>
    <dgm:pt modelId="{5630F2DC-7AC2-42D1-B082-48FB0A1ED277}" type="pres">
      <dgm:prSet presAssocID="{03A9CF9F-0D4B-4F53-92BE-DE306AABF15E}" presName="bgRect" presStyleLbl="bgShp" presStyleIdx="1" presStyleCnt="4" custLinFactNeighborX="172" custLinFactNeighborY="4249"/>
      <dgm:spPr/>
    </dgm:pt>
    <dgm:pt modelId="{90CB04E1-48EF-4DDD-BBE3-89ACECD2626F}" type="pres">
      <dgm:prSet presAssocID="{03A9CF9F-0D4B-4F53-92BE-DE306AABF15E}" presName="iconRect" presStyleLbl="node1" presStyleIdx="1" presStyleCnt="4"/>
      <dgm:spPr>
        <a:blipFill>
          <a:blip xmlns:r="http://schemas.openxmlformats.org/officeDocument/2006/relationships" r:embed="rId2"/>
          <a:srcRect/>
          <a:stretch>
            <a:fillRect/>
          </a:stretch>
        </a:blipFill>
        <a:ln>
          <a:noFill/>
        </a:ln>
      </dgm:spPr>
    </dgm:pt>
    <dgm:pt modelId="{6112F2CC-F0C9-4517-86DE-F9B2EA7CE17A}" type="pres">
      <dgm:prSet presAssocID="{03A9CF9F-0D4B-4F53-92BE-DE306AABF15E}" presName="spaceRect" presStyleCnt="0"/>
      <dgm:spPr/>
    </dgm:pt>
    <dgm:pt modelId="{DCFA7248-0CBB-4C5D-B77A-5B306FC8386F}" type="pres">
      <dgm:prSet presAssocID="{03A9CF9F-0D4B-4F53-92BE-DE306AABF15E}" presName="parTx" presStyleLbl="revTx" presStyleIdx="1" presStyleCnt="4">
        <dgm:presLayoutVars>
          <dgm:chMax val="0"/>
          <dgm:chPref val="0"/>
        </dgm:presLayoutVars>
      </dgm:prSet>
      <dgm:spPr/>
    </dgm:pt>
    <dgm:pt modelId="{967C729C-90C2-488C-91E8-B76BE8715829}" type="pres">
      <dgm:prSet presAssocID="{62D774D6-8572-4C05-8364-D40809BC7E0C}" presName="sibTrans" presStyleCnt="0"/>
      <dgm:spPr/>
    </dgm:pt>
    <dgm:pt modelId="{2AB5CE9B-3570-4A55-AD1B-D58C531C16BC}" type="pres">
      <dgm:prSet presAssocID="{D16A9ECD-455C-4567-9B34-13543C1A7490}" presName="compNode" presStyleCnt="0"/>
      <dgm:spPr/>
    </dgm:pt>
    <dgm:pt modelId="{1BEB455D-74D0-4CEF-B49E-F9CEA59AEBD9}" type="pres">
      <dgm:prSet presAssocID="{D16A9ECD-455C-4567-9B34-13543C1A7490}" presName="bgRect" presStyleLbl="bgShp" presStyleIdx="2" presStyleCnt="4"/>
      <dgm:spPr/>
    </dgm:pt>
    <dgm:pt modelId="{22DD9EA7-1DAD-4757-898A-1B0D21AD722B}" type="pres">
      <dgm:prSet presAssocID="{D16A9ECD-455C-4567-9B34-13543C1A7490}" presName="iconRect" presStyleLbl="node1" presStyleIdx="2" presStyleCnt="4"/>
      <dgm:spPr>
        <a:blipFill>
          <a:blip xmlns:r="http://schemas.openxmlformats.org/officeDocument/2006/relationships" r:embed="rId3"/>
          <a:srcRect/>
          <a:stretch>
            <a:fillRect/>
          </a:stretch>
        </a:blipFill>
        <a:ln>
          <a:noFill/>
        </a:ln>
      </dgm:spPr>
    </dgm:pt>
    <dgm:pt modelId="{D67F5FA1-CD17-4E7D-A6CB-3E1E56424907}" type="pres">
      <dgm:prSet presAssocID="{D16A9ECD-455C-4567-9B34-13543C1A7490}" presName="spaceRect" presStyleCnt="0"/>
      <dgm:spPr/>
    </dgm:pt>
    <dgm:pt modelId="{95A25766-A625-4D58-A2CA-F01D271BC5AA}" type="pres">
      <dgm:prSet presAssocID="{D16A9ECD-455C-4567-9B34-13543C1A7490}" presName="parTx" presStyleLbl="revTx" presStyleIdx="2" presStyleCnt="4">
        <dgm:presLayoutVars>
          <dgm:chMax val="0"/>
          <dgm:chPref val="0"/>
        </dgm:presLayoutVars>
      </dgm:prSet>
      <dgm:spPr/>
    </dgm:pt>
    <dgm:pt modelId="{C46CD656-E02F-4AF9-8D84-6ABC49787A64}" type="pres">
      <dgm:prSet presAssocID="{1ED4598F-72A4-4720-AD11-596BA2EB8323}" presName="sibTrans" presStyleCnt="0"/>
      <dgm:spPr/>
    </dgm:pt>
    <dgm:pt modelId="{CC1BF4AD-D9C9-4C0E-8A57-745D4178260D}" type="pres">
      <dgm:prSet presAssocID="{6A925BE9-3652-4F7F-84AB-E0A3F7F3A696}" presName="compNode" presStyleCnt="0"/>
      <dgm:spPr/>
    </dgm:pt>
    <dgm:pt modelId="{D0814911-48D1-48AA-A820-393DD26A8AB1}" type="pres">
      <dgm:prSet presAssocID="{6A925BE9-3652-4F7F-84AB-E0A3F7F3A696}" presName="bgRect" presStyleLbl="bgShp" presStyleIdx="3" presStyleCnt="4"/>
      <dgm:spPr/>
    </dgm:pt>
    <dgm:pt modelId="{7EF25F63-2C3A-43FF-8CDF-057CA40EF684}" type="pres">
      <dgm:prSet presAssocID="{6A925BE9-3652-4F7F-84AB-E0A3F7F3A696}" presName="iconRect" presStyleLbl="node1" presStyleIdx="3" presStyleCnt="4"/>
      <dgm:spPr>
        <a:blipFill>
          <a:blip xmlns:r="http://schemas.openxmlformats.org/officeDocument/2006/relationships" r:embed="rId4"/>
          <a:srcRect/>
          <a:stretch>
            <a:fillRect/>
          </a:stretch>
        </a:blipFill>
        <a:ln>
          <a:noFill/>
        </a:ln>
      </dgm:spPr>
    </dgm:pt>
    <dgm:pt modelId="{DB828C8A-2D07-446D-989E-359DF942A163}" type="pres">
      <dgm:prSet presAssocID="{6A925BE9-3652-4F7F-84AB-E0A3F7F3A696}" presName="spaceRect" presStyleCnt="0"/>
      <dgm:spPr/>
    </dgm:pt>
    <dgm:pt modelId="{BD4DFEFD-3063-45DB-BADD-83C3F0CC4073}" type="pres">
      <dgm:prSet presAssocID="{6A925BE9-3652-4F7F-84AB-E0A3F7F3A696}" presName="parTx" presStyleLbl="revTx" presStyleIdx="3" presStyleCnt="4">
        <dgm:presLayoutVars>
          <dgm:chMax val="0"/>
          <dgm:chPref val="0"/>
        </dgm:presLayoutVars>
      </dgm:prSet>
      <dgm:spPr/>
    </dgm:pt>
  </dgm:ptLst>
  <dgm:cxnLst>
    <dgm:cxn modelId="{E2CFAF0B-5637-4B11-9D01-7CEFCDDF7DA2}" type="presOf" srcId="{03A9CF9F-0D4B-4F53-92BE-DE306AABF15E}" destId="{DCFA7248-0CBB-4C5D-B77A-5B306FC8386F}" srcOrd="0" destOrd="0" presId="urn:microsoft.com/office/officeart/2018/2/layout/IconVerticalSolidList"/>
    <dgm:cxn modelId="{72A62618-911C-4A91-BA97-FBB500466E07}" type="presOf" srcId="{D16A9ECD-455C-4567-9B34-13543C1A7490}" destId="{95A25766-A625-4D58-A2CA-F01D271BC5AA}" srcOrd="0" destOrd="0" presId="urn:microsoft.com/office/officeart/2018/2/layout/IconVerticalSolidList"/>
    <dgm:cxn modelId="{C254A872-B1DD-4C41-89BC-9FD764D7D8E4}" type="presOf" srcId="{5F322D38-1E09-4935-A7EB-AF07EBEC74D7}" destId="{0956CBB4-B88A-4893-AD04-EFC84DBCB50B}" srcOrd="0" destOrd="0" presId="urn:microsoft.com/office/officeart/2018/2/layout/IconVerticalSolidList"/>
    <dgm:cxn modelId="{AEA36092-88ED-4056-9DDD-513969999CC5}" srcId="{E169786D-0567-49AE-AADC-AEA70D64D0DF}" destId="{5F322D38-1E09-4935-A7EB-AF07EBEC74D7}" srcOrd="0" destOrd="0" parTransId="{162272BB-FD30-42BB-BE11-2F32EF2EA990}" sibTransId="{A3F0B234-6446-4F87-9831-A96F884E2BBC}"/>
    <dgm:cxn modelId="{8CF0F79D-8E9D-4BF4-A543-5F03D989615C}" srcId="{E169786D-0567-49AE-AADC-AEA70D64D0DF}" destId="{D16A9ECD-455C-4567-9B34-13543C1A7490}" srcOrd="2" destOrd="0" parTransId="{E5150CA8-2B90-4406-803C-09647E971C48}" sibTransId="{1ED4598F-72A4-4720-AD11-596BA2EB8323}"/>
    <dgm:cxn modelId="{099114C5-DA96-4EE7-B548-9602C022F94B}" type="presOf" srcId="{E169786D-0567-49AE-AADC-AEA70D64D0DF}" destId="{8EB0FE33-7BB3-401F-831B-7C194B7E6A3F}" srcOrd="0" destOrd="0" presId="urn:microsoft.com/office/officeart/2018/2/layout/IconVerticalSolidList"/>
    <dgm:cxn modelId="{718009E0-CD36-44E4-84F9-00AC5E96393E}" type="presOf" srcId="{6A925BE9-3652-4F7F-84AB-E0A3F7F3A696}" destId="{BD4DFEFD-3063-45DB-BADD-83C3F0CC4073}" srcOrd="0" destOrd="0" presId="urn:microsoft.com/office/officeart/2018/2/layout/IconVerticalSolidList"/>
    <dgm:cxn modelId="{9DA6BEEB-D6C7-460D-B2B5-F020DDD08612}" srcId="{E169786D-0567-49AE-AADC-AEA70D64D0DF}" destId="{03A9CF9F-0D4B-4F53-92BE-DE306AABF15E}" srcOrd="1" destOrd="0" parTransId="{B1DA7101-2348-4329-87DE-2B6E1B9BC10E}" sibTransId="{62D774D6-8572-4C05-8364-D40809BC7E0C}"/>
    <dgm:cxn modelId="{9D9489F0-888E-41F7-88E0-05911F2880A0}" srcId="{E169786D-0567-49AE-AADC-AEA70D64D0DF}" destId="{6A925BE9-3652-4F7F-84AB-E0A3F7F3A696}" srcOrd="3" destOrd="0" parTransId="{317BA101-4936-41A0-ADC6-C7D6DCB87D92}" sibTransId="{712DB0E4-7709-43DF-B710-F0B4D4D9250A}"/>
    <dgm:cxn modelId="{B3E3A252-7171-44A9-9770-06C5E2917647}" type="presParOf" srcId="{8EB0FE33-7BB3-401F-831B-7C194B7E6A3F}" destId="{96EA0464-ECAE-485A-B3FC-FE41B727F0A0}" srcOrd="0" destOrd="0" presId="urn:microsoft.com/office/officeart/2018/2/layout/IconVerticalSolidList"/>
    <dgm:cxn modelId="{D037BB33-6976-4773-B4B7-78AC868B0B45}" type="presParOf" srcId="{96EA0464-ECAE-485A-B3FC-FE41B727F0A0}" destId="{43B0006E-E51D-4562-A45B-8920A682E29A}" srcOrd="0" destOrd="0" presId="urn:microsoft.com/office/officeart/2018/2/layout/IconVerticalSolidList"/>
    <dgm:cxn modelId="{CCBD8CEE-3633-4C7A-904C-56C48A388439}" type="presParOf" srcId="{96EA0464-ECAE-485A-B3FC-FE41B727F0A0}" destId="{3FBAE9ED-A65E-4E4F-B006-44E5520A1D7B}" srcOrd="1" destOrd="0" presId="urn:microsoft.com/office/officeart/2018/2/layout/IconVerticalSolidList"/>
    <dgm:cxn modelId="{2BE1FCB6-80E2-4124-B9BB-2A9479AEF6D9}" type="presParOf" srcId="{96EA0464-ECAE-485A-B3FC-FE41B727F0A0}" destId="{33BC1718-702E-4F5B-AAFA-66563755B279}" srcOrd="2" destOrd="0" presId="urn:microsoft.com/office/officeart/2018/2/layout/IconVerticalSolidList"/>
    <dgm:cxn modelId="{935D641B-9227-48F3-BE41-3FD3915B9BBE}" type="presParOf" srcId="{96EA0464-ECAE-485A-B3FC-FE41B727F0A0}" destId="{0956CBB4-B88A-4893-AD04-EFC84DBCB50B}" srcOrd="3" destOrd="0" presId="urn:microsoft.com/office/officeart/2018/2/layout/IconVerticalSolidList"/>
    <dgm:cxn modelId="{D4BEC330-F0A1-4229-B72F-017F81638DE1}" type="presParOf" srcId="{8EB0FE33-7BB3-401F-831B-7C194B7E6A3F}" destId="{B5135BDB-5C42-4AA0-B9BD-5A3A4E3D543A}" srcOrd="1" destOrd="0" presId="urn:microsoft.com/office/officeart/2018/2/layout/IconVerticalSolidList"/>
    <dgm:cxn modelId="{045829DF-DB70-48C7-AD28-7D0586E5C29C}" type="presParOf" srcId="{8EB0FE33-7BB3-401F-831B-7C194B7E6A3F}" destId="{DD6913B4-21D4-4CB6-8720-6DED887BFDA3}" srcOrd="2" destOrd="0" presId="urn:microsoft.com/office/officeart/2018/2/layout/IconVerticalSolidList"/>
    <dgm:cxn modelId="{24E4ADAD-7722-4B00-A3ED-B323AC817FD8}" type="presParOf" srcId="{DD6913B4-21D4-4CB6-8720-6DED887BFDA3}" destId="{5630F2DC-7AC2-42D1-B082-48FB0A1ED277}" srcOrd="0" destOrd="0" presId="urn:microsoft.com/office/officeart/2018/2/layout/IconVerticalSolidList"/>
    <dgm:cxn modelId="{32FE3E7E-B61E-47DD-B7BF-6C3DA11A15A9}" type="presParOf" srcId="{DD6913B4-21D4-4CB6-8720-6DED887BFDA3}" destId="{90CB04E1-48EF-4DDD-BBE3-89ACECD2626F}" srcOrd="1" destOrd="0" presId="urn:microsoft.com/office/officeart/2018/2/layout/IconVerticalSolidList"/>
    <dgm:cxn modelId="{77F6E93F-8476-43F7-9F9B-C7D92C85AA13}" type="presParOf" srcId="{DD6913B4-21D4-4CB6-8720-6DED887BFDA3}" destId="{6112F2CC-F0C9-4517-86DE-F9B2EA7CE17A}" srcOrd="2" destOrd="0" presId="urn:microsoft.com/office/officeart/2018/2/layout/IconVerticalSolidList"/>
    <dgm:cxn modelId="{C1301191-8BA2-465B-B3F3-19F640ABBE7A}" type="presParOf" srcId="{DD6913B4-21D4-4CB6-8720-6DED887BFDA3}" destId="{DCFA7248-0CBB-4C5D-B77A-5B306FC8386F}" srcOrd="3" destOrd="0" presId="urn:microsoft.com/office/officeart/2018/2/layout/IconVerticalSolidList"/>
    <dgm:cxn modelId="{36355084-82FE-4229-9362-20C3349AF124}" type="presParOf" srcId="{8EB0FE33-7BB3-401F-831B-7C194B7E6A3F}" destId="{967C729C-90C2-488C-91E8-B76BE8715829}" srcOrd="3" destOrd="0" presId="urn:microsoft.com/office/officeart/2018/2/layout/IconVerticalSolidList"/>
    <dgm:cxn modelId="{0C381429-7664-40D3-9FEE-AF3C0CBA74D7}" type="presParOf" srcId="{8EB0FE33-7BB3-401F-831B-7C194B7E6A3F}" destId="{2AB5CE9B-3570-4A55-AD1B-D58C531C16BC}" srcOrd="4" destOrd="0" presId="urn:microsoft.com/office/officeart/2018/2/layout/IconVerticalSolidList"/>
    <dgm:cxn modelId="{F04C80D2-563A-48E8-A8FE-A15BC4E6E52E}" type="presParOf" srcId="{2AB5CE9B-3570-4A55-AD1B-D58C531C16BC}" destId="{1BEB455D-74D0-4CEF-B49E-F9CEA59AEBD9}" srcOrd="0" destOrd="0" presId="urn:microsoft.com/office/officeart/2018/2/layout/IconVerticalSolidList"/>
    <dgm:cxn modelId="{9089BEDD-8E53-4DFA-8F14-DA3043EA8042}" type="presParOf" srcId="{2AB5CE9B-3570-4A55-AD1B-D58C531C16BC}" destId="{22DD9EA7-1DAD-4757-898A-1B0D21AD722B}" srcOrd="1" destOrd="0" presId="urn:microsoft.com/office/officeart/2018/2/layout/IconVerticalSolidList"/>
    <dgm:cxn modelId="{056CEF14-875A-416B-9CB7-1F0648CDAC57}" type="presParOf" srcId="{2AB5CE9B-3570-4A55-AD1B-D58C531C16BC}" destId="{D67F5FA1-CD17-4E7D-A6CB-3E1E56424907}" srcOrd="2" destOrd="0" presId="urn:microsoft.com/office/officeart/2018/2/layout/IconVerticalSolidList"/>
    <dgm:cxn modelId="{D21E54C9-589A-4748-9A63-F63070BD8B56}" type="presParOf" srcId="{2AB5CE9B-3570-4A55-AD1B-D58C531C16BC}" destId="{95A25766-A625-4D58-A2CA-F01D271BC5AA}" srcOrd="3" destOrd="0" presId="urn:microsoft.com/office/officeart/2018/2/layout/IconVerticalSolidList"/>
    <dgm:cxn modelId="{770B957D-71FD-4AB3-9774-DFE97C8CDF93}" type="presParOf" srcId="{8EB0FE33-7BB3-401F-831B-7C194B7E6A3F}" destId="{C46CD656-E02F-4AF9-8D84-6ABC49787A64}" srcOrd="5" destOrd="0" presId="urn:microsoft.com/office/officeart/2018/2/layout/IconVerticalSolidList"/>
    <dgm:cxn modelId="{CE13A546-E68A-4B86-915B-3FC730AA427A}" type="presParOf" srcId="{8EB0FE33-7BB3-401F-831B-7C194B7E6A3F}" destId="{CC1BF4AD-D9C9-4C0E-8A57-745D4178260D}" srcOrd="6" destOrd="0" presId="urn:microsoft.com/office/officeart/2018/2/layout/IconVerticalSolidList"/>
    <dgm:cxn modelId="{3680A64C-DBFE-41A5-9BEB-F992CA328A5E}" type="presParOf" srcId="{CC1BF4AD-D9C9-4C0E-8A57-745D4178260D}" destId="{D0814911-48D1-48AA-A820-393DD26A8AB1}" srcOrd="0" destOrd="0" presId="urn:microsoft.com/office/officeart/2018/2/layout/IconVerticalSolidList"/>
    <dgm:cxn modelId="{5E70F934-F6F1-4D53-A279-5CCFFB7E8752}" type="presParOf" srcId="{CC1BF4AD-D9C9-4C0E-8A57-745D4178260D}" destId="{7EF25F63-2C3A-43FF-8CDF-057CA40EF684}" srcOrd="1" destOrd="0" presId="urn:microsoft.com/office/officeart/2018/2/layout/IconVerticalSolidList"/>
    <dgm:cxn modelId="{3F150E43-758D-46F1-A646-BBDDCF970E85}" type="presParOf" srcId="{CC1BF4AD-D9C9-4C0E-8A57-745D4178260D}" destId="{DB828C8A-2D07-446D-989E-359DF942A163}" srcOrd="2" destOrd="0" presId="urn:microsoft.com/office/officeart/2018/2/layout/IconVerticalSolidList"/>
    <dgm:cxn modelId="{3678BF39-5054-421C-BE5A-FFFC1E60410F}" type="presParOf" srcId="{CC1BF4AD-D9C9-4C0E-8A57-745D4178260D}" destId="{BD4DFEFD-3063-45DB-BADD-83C3F0CC4073}"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3B0006E-E51D-4562-A45B-8920A682E29A}">
      <dsp:nvSpPr>
        <dsp:cNvPr id="0" name=""/>
        <dsp:cNvSpPr/>
      </dsp:nvSpPr>
      <dsp:spPr>
        <a:xfrm>
          <a:off x="0" y="2288"/>
          <a:ext cx="6364224" cy="115984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FBAE9ED-A65E-4E4F-B006-44E5520A1D7B}">
      <dsp:nvSpPr>
        <dsp:cNvPr id="0" name=""/>
        <dsp:cNvSpPr/>
      </dsp:nvSpPr>
      <dsp:spPr>
        <a:xfrm>
          <a:off x="350852" y="263253"/>
          <a:ext cx="637913" cy="637913"/>
        </a:xfrm>
        <a:prstGeom prst="rect">
          <a:avLst/>
        </a:prstGeom>
        <a:blipFill>
          <a:blip xmlns:r="http://schemas.openxmlformats.org/officeDocument/2006/relationships" r:embed="rId1"/>
          <a:srcRect/>
          <a:stretch>
            <a:fillRect t="-4000" b="-4000"/>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956CBB4-B88A-4893-AD04-EFC84DBCB50B}">
      <dsp:nvSpPr>
        <dsp:cNvPr id="0" name=""/>
        <dsp:cNvSpPr/>
      </dsp:nvSpPr>
      <dsp:spPr>
        <a:xfrm>
          <a:off x="1339618" y="2288"/>
          <a:ext cx="5024605" cy="1159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750" tIns="122750" rIns="122750" bIns="122750" numCol="1" spcCol="1270" anchor="ctr" anchorCtr="0">
          <a:noAutofit/>
        </a:bodyPr>
        <a:lstStyle/>
        <a:p>
          <a:pPr marL="0" lvl="0" indent="0" algn="l" defTabSz="977900">
            <a:lnSpc>
              <a:spcPct val="90000"/>
            </a:lnSpc>
            <a:spcBef>
              <a:spcPct val="0"/>
            </a:spcBef>
            <a:spcAft>
              <a:spcPct val="35000"/>
            </a:spcAft>
            <a:buNone/>
          </a:pPr>
          <a:r>
            <a:rPr lang="en-US" sz="2200" kern="1200" dirty="0"/>
            <a:t>TensorFlow</a:t>
          </a:r>
        </a:p>
      </dsp:txBody>
      <dsp:txXfrm>
        <a:off x="1339618" y="2288"/>
        <a:ext cx="5024605" cy="1159843"/>
      </dsp:txXfrm>
    </dsp:sp>
    <dsp:sp modelId="{5630F2DC-7AC2-42D1-B082-48FB0A1ED277}">
      <dsp:nvSpPr>
        <dsp:cNvPr id="0" name=""/>
        <dsp:cNvSpPr/>
      </dsp:nvSpPr>
      <dsp:spPr>
        <a:xfrm>
          <a:off x="0" y="1501374"/>
          <a:ext cx="6364224" cy="115984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0CB04E1-48EF-4DDD-BBE3-89ACECD2626F}">
      <dsp:nvSpPr>
        <dsp:cNvPr id="0" name=""/>
        <dsp:cNvSpPr/>
      </dsp:nvSpPr>
      <dsp:spPr>
        <a:xfrm>
          <a:off x="350852" y="1713057"/>
          <a:ext cx="637913" cy="637913"/>
        </a:xfrm>
        <a:prstGeom prst="rect">
          <a:avLst/>
        </a:prstGeom>
        <a:blipFill>
          <a:blip xmlns:r="http://schemas.openxmlformats.org/officeDocument/2006/relationships" r:embed="rId2"/>
          <a:srcRect/>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CFA7248-0CBB-4C5D-B77A-5B306FC8386F}">
      <dsp:nvSpPr>
        <dsp:cNvPr id="0" name=""/>
        <dsp:cNvSpPr/>
      </dsp:nvSpPr>
      <dsp:spPr>
        <a:xfrm>
          <a:off x="1339618" y="1452092"/>
          <a:ext cx="5024605" cy="1159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750" tIns="122750" rIns="122750" bIns="122750" numCol="1" spcCol="1270" anchor="ctr" anchorCtr="0">
          <a:noAutofit/>
        </a:bodyPr>
        <a:lstStyle/>
        <a:p>
          <a:pPr marL="0" lvl="0" indent="0" algn="l" defTabSz="977900">
            <a:lnSpc>
              <a:spcPct val="90000"/>
            </a:lnSpc>
            <a:spcBef>
              <a:spcPct val="0"/>
            </a:spcBef>
            <a:spcAft>
              <a:spcPct val="35000"/>
            </a:spcAft>
            <a:buNone/>
          </a:pPr>
          <a:r>
            <a:rPr lang="en-US" sz="2200" kern="1200" dirty="0"/>
            <a:t>NumPy</a:t>
          </a:r>
        </a:p>
      </dsp:txBody>
      <dsp:txXfrm>
        <a:off x="1339618" y="1452092"/>
        <a:ext cx="5024605" cy="1159843"/>
      </dsp:txXfrm>
    </dsp:sp>
    <dsp:sp modelId="{1BEB455D-74D0-4CEF-B49E-F9CEA59AEBD9}">
      <dsp:nvSpPr>
        <dsp:cNvPr id="0" name=""/>
        <dsp:cNvSpPr/>
      </dsp:nvSpPr>
      <dsp:spPr>
        <a:xfrm>
          <a:off x="0" y="2901896"/>
          <a:ext cx="6364224" cy="115984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2DD9EA7-1DAD-4757-898A-1B0D21AD722B}">
      <dsp:nvSpPr>
        <dsp:cNvPr id="0" name=""/>
        <dsp:cNvSpPr/>
      </dsp:nvSpPr>
      <dsp:spPr>
        <a:xfrm>
          <a:off x="350852" y="3162861"/>
          <a:ext cx="637913" cy="637913"/>
        </a:xfrm>
        <a:prstGeom prst="rect">
          <a:avLst/>
        </a:prstGeom>
        <a:blipFill>
          <a:blip xmlns:r="http://schemas.openxmlformats.org/officeDocument/2006/relationships" r:embed="rId3"/>
          <a:srcRect/>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5A25766-A625-4D58-A2CA-F01D271BC5AA}">
      <dsp:nvSpPr>
        <dsp:cNvPr id="0" name=""/>
        <dsp:cNvSpPr/>
      </dsp:nvSpPr>
      <dsp:spPr>
        <a:xfrm>
          <a:off x="1339618" y="2901896"/>
          <a:ext cx="5024605" cy="1159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750" tIns="122750" rIns="122750" bIns="122750" numCol="1" spcCol="1270" anchor="ctr" anchorCtr="0">
          <a:noAutofit/>
        </a:bodyPr>
        <a:lstStyle/>
        <a:p>
          <a:pPr marL="0" lvl="0" indent="0" algn="l" defTabSz="977900">
            <a:lnSpc>
              <a:spcPct val="90000"/>
            </a:lnSpc>
            <a:spcBef>
              <a:spcPct val="0"/>
            </a:spcBef>
            <a:spcAft>
              <a:spcPct val="35000"/>
            </a:spcAft>
            <a:buNone/>
          </a:pPr>
          <a:r>
            <a:rPr lang="en-US" sz="2200" kern="1200" dirty="0"/>
            <a:t>Scikit-learn (metrics)</a:t>
          </a:r>
        </a:p>
      </dsp:txBody>
      <dsp:txXfrm>
        <a:off x="1339618" y="2901896"/>
        <a:ext cx="5024605" cy="1159843"/>
      </dsp:txXfrm>
    </dsp:sp>
    <dsp:sp modelId="{D0814911-48D1-48AA-A820-393DD26A8AB1}">
      <dsp:nvSpPr>
        <dsp:cNvPr id="0" name=""/>
        <dsp:cNvSpPr/>
      </dsp:nvSpPr>
      <dsp:spPr>
        <a:xfrm>
          <a:off x="0" y="4351700"/>
          <a:ext cx="6364224" cy="115984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EF25F63-2C3A-43FF-8CDF-057CA40EF684}">
      <dsp:nvSpPr>
        <dsp:cNvPr id="0" name=""/>
        <dsp:cNvSpPr/>
      </dsp:nvSpPr>
      <dsp:spPr>
        <a:xfrm>
          <a:off x="350852" y="4612665"/>
          <a:ext cx="637913" cy="637913"/>
        </a:xfrm>
        <a:prstGeom prst="rect">
          <a:avLst/>
        </a:prstGeom>
        <a:blipFill>
          <a:blip xmlns:r="http://schemas.openxmlformats.org/officeDocument/2006/relationships" r:embed="rId4"/>
          <a:srcRect/>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D4DFEFD-3063-45DB-BADD-83C3F0CC4073}">
      <dsp:nvSpPr>
        <dsp:cNvPr id="0" name=""/>
        <dsp:cNvSpPr/>
      </dsp:nvSpPr>
      <dsp:spPr>
        <a:xfrm>
          <a:off x="1339618" y="4351700"/>
          <a:ext cx="5024605" cy="1159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750" tIns="122750" rIns="122750" bIns="122750" numCol="1" spcCol="1270" anchor="ctr" anchorCtr="0">
          <a:noAutofit/>
        </a:bodyPr>
        <a:lstStyle/>
        <a:p>
          <a:pPr marL="0" lvl="0" indent="0" algn="l" defTabSz="977900">
            <a:lnSpc>
              <a:spcPct val="90000"/>
            </a:lnSpc>
            <a:spcBef>
              <a:spcPct val="0"/>
            </a:spcBef>
            <a:spcAft>
              <a:spcPct val="35000"/>
            </a:spcAft>
            <a:buNone/>
          </a:pPr>
          <a:r>
            <a:rPr lang="en-US" sz="2200" kern="1200" dirty="0"/>
            <a:t>Matplotlib</a:t>
          </a:r>
        </a:p>
      </dsp:txBody>
      <dsp:txXfrm>
        <a:off x="1339618" y="4351700"/>
        <a:ext cx="5024605" cy="1159843"/>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עליונה 1">
            <a:extLst>
              <a:ext uri="{FF2B5EF4-FFF2-40B4-BE49-F238E27FC236}">
                <a16:creationId xmlns:a16="http://schemas.microsoft.com/office/drawing/2014/main" id="{064F4E44-EFD8-2FD9-F494-FD433ECB0AF4}"/>
              </a:ext>
            </a:extLst>
          </p:cNvPr>
          <p:cNvSpPr>
            <a:spLocks noGrp="1"/>
          </p:cNvSpPr>
          <p:nvPr>
            <p:ph type="hdr" sz="quarter"/>
          </p:nvPr>
        </p:nvSpPr>
        <p:spPr>
          <a:xfrm>
            <a:off x="3886200" y="0"/>
            <a:ext cx="2971800" cy="458788"/>
          </a:xfrm>
          <a:prstGeom prst="rect">
            <a:avLst/>
          </a:prstGeom>
        </p:spPr>
        <p:txBody>
          <a:bodyPr vert="horz" lIns="91440" tIns="45720" rIns="91440" bIns="45720" rtlCol="1"/>
          <a:lstStyle>
            <a:lvl1pPr algn="l">
              <a:defRPr sz="1200"/>
            </a:lvl1pPr>
          </a:lstStyle>
          <a:p>
            <a:endParaRPr lang="en-US"/>
          </a:p>
        </p:txBody>
      </p:sp>
      <p:sp>
        <p:nvSpPr>
          <p:cNvPr id="3" name="מציין מיקום של תאריך 2">
            <a:extLst>
              <a:ext uri="{FF2B5EF4-FFF2-40B4-BE49-F238E27FC236}">
                <a16:creationId xmlns:a16="http://schemas.microsoft.com/office/drawing/2014/main" id="{59751E99-F92A-BFCA-DD3A-2AD77822EA66}"/>
              </a:ext>
            </a:extLst>
          </p:cNvPr>
          <p:cNvSpPr>
            <a:spLocks noGrp="1"/>
          </p:cNvSpPr>
          <p:nvPr>
            <p:ph type="dt" sz="quarter" idx="1"/>
          </p:nvPr>
        </p:nvSpPr>
        <p:spPr>
          <a:xfrm>
            <a:off x="1588" y="0"/>
            <a:ext cx="2971800" cy="458788"/>
          </a:xfrm>
          <a:prstGeom prst="rect">
            <a:avLst/>
          </a:prstGeom>
        </p:spPr>
        <p:txBody>
          <a:bodyPr vert="horz" lIns="91440" tIns="45720" rIns="91440" bIns="45720" rtlCol="1"/>
          <a:lstStyle>
            <a:lvl1pPr algn="r">
              <a:defRPr sz="1200"/>
            </a:lvl1pPr>
          </a:lstStyle>
          <a:p>
            <a:fld id="{4CDC300A-7F0E-4CDA-BAB8-A05674B8F2B5}" type="datetimeFigureOut">
              <a:rPr lang="en-US" smtClean="0"/>
              <a:t>11/8/2025</a:t>
            </a:fld>
            <a:endParaRPr lang="en-US"/>
          </a:p>
        </p:txBody>
      </p:sp>
      <p:sp>
        <p:nvSpPr>
          <p:cNvPr id="4" name="מציין מיקום של כותרת תחתונה 3">
            <a:extLst>
              <a:ext uri="{FF2B5EF4-FFF2-40B4-BE49-F238E27FC236}">
                <a16:creationId xmlns:a16="http://schemas.microsoft.com/office/drawing/2014/main" id="{750D0C5A-F930-1632-2937-6A4B8821F219}"/>
              </a:ext>
            </a:extLst>
          </p:cNvPr>
          <p:cNvSpPr>
            <a:spLocks noGrp="1"/>
          </p:cNvSpPr>
          <p:nvPr>
            <p:ph type="ftr" sz="quarter" idx="2"/>
          </p:nvPr>
        </p:nvSpPr>
        <p:spPr>
          <a:xfrm>
            <a:off x="3886200" y="8685213"/>
            <a:ext cx="2971800" cy="458787"/>
          </a:xfrm>
          <a:prstGeom prst="rect">
            <a:avLst/>
          </a:prstGeom>
        </p:spPr>
        <p:txBody>
          <a:bodyPr vert="horz" lIns="91440" tIns="45720" rIns="91440" bIns="45720" rtlCol="1" anchor="b"/>
          <a:lstStyle>
            <a:lvl1pPr algn="l">
              <a:defRPr sz="1200"/>
            </a:lvl1pPr>
          </a:lstStyle>
          <a:p>
            <a:endParaRPr lang="en-US"/>
          </a:p>
        </p:txBody>
      </p:sp>
      <p:sp>
        <p:nvSpPr>
          <p:cNvPr id="5" name="מציין מיקום של מספר שקופית 4">
            <a:extLst>
              <a:ext uri="{FF2B5EF4-FFF2-40B4-BE49-F238E27FC236}">
                <a16:creationId xmlns:a16="http://schemas.microsoft.com/office/drawing/2014/main" id="{586AA35F-E1A8-A1C0-E1C2-63A946F25BED}"/>
              </a:ext>
            </a:extLst>
          </p:cNvPr>
          <p:cNvSpPr>
            <a:spLocks noGrp="1"/>
          </p:cNvSpPr>
          <p:nvPr>
            <p:ph type="sldNum" sz="quarter" idx="3"/>
          </p:nvPr>
        </p:nvSpPr>
        <p:spPr>
          <a:xfrm>
            <a:off x="1588" y="8685213"/>
            <a:ext cx="2971800" cy="458787"/>
          </a:xfrm>
          <a:prstGeom prst="rect">
            <a:avLst/>
          </a:prstGeom>
        </p:spPr>
        <p:txBody>
          <a:bodyPr vert="horz" lIns="91440" tIns="45720" rIns="91440" bIns="45720" rtlCol="1" anchor="b"/>
          <a:lstStyle>
            <a:lvl1pPr algn="r">
              <a:defRPr sz="1200"/>
            </a:lvl1pPr>
          </a:lstStyle>
          <a:p>
            <a:fld id="{512E3B49-3C91-44B3-A0E0-B9CD9EAC1D9E}" type="slidenum">
              <a:rPr lang="en-US" smtClean="0"/>
              <a:t>‹#›</a:t>
            </a:fld>
            <a:endParaRPr lang="en-US"/>
          </a:p>
        </p:txBody>
      </p:sp>
    </p:spTree>
    <p:extLst>
      <p:ext uri="{BB962C8B-B14F-4D97-AF65-F5344CB8AC3E}">
        <p14:creationId xmlns:p14="http://schemas.microsoft.com/office/powerpoint/2010/main" val="68402821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עליונה 1"/>
          <p:cNvSpPr>
            <a:spLocks noGrp="1"/>
          </p:cNvSpPr>
          <p:nvPr>
            <p:ph type="hdr" sz="quarter"/>
          </p:nvPr>
        </p:nvSpPr>
        <p:spPr>
          <a:xfrm>
            <a:off x="3886200" y="0"/>
            <a:ext cx="2971800" cy="458788"/>
          </a:xfrm>
          <a:prstGeom prst="rect">
            <a:avLst/>
          </a:prstGeom>
        </p:spPr>
        <p:txBody>
          <a:bodyPr vert="horz" lIns="91440" tIns="45720" rIns="91440" bIns="45720" rtlCol="1"/>
          <a:lstStyle>
            <a:lvl1pPr algn="l">
              <a:defRPr sz="1200"/>
            </a:lvl1pPr>
          </a:lstStyle>
          <a:p>
            <a:endParaRPr lang="en-US"/>
          </a:p>
        </p:txBody>
      </p:sp>
      <p:sp>
        <p:nvSpPr>
          <p:cNvPr id="3" name="מציין מיקום של תאריך 2"/>
          <p:cNvSpPr>
            <a:spLocks noGrp="1"/>
          </p:cNvSpPr>
          <p:nvPr>
            <p:ph type="dt" idx="1"/>
          </p:nvPr>
        </p:nvSpPr>
        <p:spPr>
          <a:xfrm>
            <a:off x="1588" y="0"/>
            <a:ext cx="2971800" cy="458788"/>
          </a:xfrm>
          <a:prstGeom prst="rect">
            <a:avLst/>
          </a:prstGeom>
        </p:spPr>
        <p:txBody>
          <a:bodyPr vert="horz" lIns="91440" tIns="45720" rIns="91440" bIns="45720" rtlCol="1"/>
          <a:lstStyle>
            <a:lvl1pPr algn="r">
              <a:defRPr sz="1200"/>
            </a:lvl1pPr>
          </a:lstStyle>
          <a:p>
            <a:fld id="{11B87F20-CC62-4161-BB45-73AAF58E9B70}" type="datetimeFigureOut">
              <a:rPr lang="en-US" smtClean="0"/>
              <a:t>11/8/2025</a:t>
            </a:fld>
            <a:endParaRPr lang="en-US"/>
          </a:p>
        </p:txBody>
      </p:sp>
      <p:sp>
        <p:nvSpPr>
          <p:cNvPr id="4" name="מציין מיקום של תמונת שקופית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1" anchor="ctr"/>
          <a:lstStyle/>
          <a:p>
            <a:endParaRPr lang="en-US"/>
          </a:p>
        </p:txBody>
      </p:sp>
      <p:sp>
        <p:nvSpPr>
          <p:cNvPr id="5" name="מציין מיקום של הערות 4"/>
          <p:cNvSpPr>
            <a:spLocks noGrp="1"/>
          </p:cNvSpPr>
          <p:nvPr>
            <p:ph type="body" sz="quarter" idx="3"/>
          </p:nvPr>
        </p:nvSpPr>
        <p:spPr>
          <a:xfrm>
            <a:off x="685800" y="4400550"/>
            <a:ext cx="5486400" cy="3600450"/>
          </a:xfrm>
          <a:prstGeom prst="rect">
            <a:avLst/>
          </a:prstGeom>
        </p:spPr>
        <p:txBody>
          <a:bodyPr vert="horz" lIns="91440" tIns="45720" rIns="91440" bIns="45720" rtlCol="1"/>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a:p>
        </p:txBody>
      </p:sp>
      <p:sp>
        <p:nvSpPr>
          <p:cNvPr id="6" name="מציין מיקום של כותרת תחתונה 5"/>
          <p:cNvSpPr>
            <a:spLocks noGrp="1"/>
          </p:cNvSpPr>
          <p:nvPr>
            <p:ph type="ftr" sz="quarter" idx="4"/>
          </p:nvPr>
        </p:nvSpPr>
        <p:spPr>
          <a:xfrm>
            <a:off x="3886200" y="8685213"/>
            <a:ext cx="2971800" cy="458787"/>
          </a:xfrm>
          <a:prstGeom prst="rect">
            <a:avLst/>
          </a:prstGeom>
        </p:spPr>
        <p:txBody>
          <a:bodyPr vert="horz" lIns="91440" tIns="45720" rIns="91440" bIns="45720" rtlCol="1" anchor="b"/>
          <a:lstStyle>
            <a:lvl1pPr algn="l">
              <a:defRPr sz="1200"/>
            </a:lvl1pPr>
          </a:lstStyle>
          <a:p>
            <a:endParaRPr lang="en-US"/>
          </a:p>
        </p:txBody>
      </p:sp>
      <p:sp>
        <p:nvSpPr>
          <p:cNvPr id="7" name="מציין מיקום של מספר שקופית 6"/>
          <p:cNvSpPr>
            <a:spLocks noGrp="1"/>
          </p:cNvSpPr>
          <p:nvPr>
            <p:ph type="sldNum" sz="quarter" idx="5"/>
          </p:nvPr>
        </p:nvSpPr>
        <p:spPr>
          <a:xfrm>
            <a:off x="1588" y="8685213"/>
            <a:ext cx="2971800" cy="458787"/>
          </a:xfrm>
          <a:prstGeom prst="rect">
            <a:avLst/>
          </a:prstGeom>
        </p:spPr>
        <p:txBody>
          <a:bodyPr vert="horz" lIns="91440" tIns="45720" rIns="91440" bIns="45720" rtlCol="1" anchor="b"/>
          <a:lstStyle>
            <a:lvl1pPr algn="r">
              <a:defRPr sz="1200"/>
            </a:lvl1pPr>
          </a:lstStyle>
          <a:p>
            <a:fld id="{D62997AB-AB94-4C68-A732-959E04A76C03}" type="slidenum">
              <a:rPr lang="en-US" smtClean="0"/>
              <a:t>‹#›</a:t>
            </a:fld>
            <a:endParaRPr lang="en-US"/>
          </a:p>
        </p:txBody>
      </p:sp>
    </p:spTree>
    <p:extLst>
      <p:ext uri="{BB962C8B-B14F-4D97-AF65-F5344CB8AC3E}">
        <p14:creationId xmlns:p14="http://schemas.microsoft.com/office/powerpoint/2010/main" val="2495249652"/>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D62997AB-AB94-4C68-A732-959E04A76C03}" type="slidenum">
              <a:rPr lang="en-US" smtClean="0"/>
              <a:t>3</a:t>
            </a:fld>
            <a:endParaRPr lang="en-US"/>
          </a:p>
        </p:txBody>
      </p:sp>
    </p:spTree>
    <p:extLst>
      <p:ext uri="{BB962C8B-B14F-4D97-AF65-F5344CB8AC3E}">
        <p14:creationId xmlns:p14="http://schemas.microsoft.com/office/powerpoint/2010/main" val="14230199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BD0E90-3D67-75B4-F745-FF7C081EFB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4F82B8-2488-0992-95BC-805D9E30426C}"/>
              </a:ext>
            </a:extLst>
          </p:cNvPr>
          <p:cNvSpPr txBox="1">
            <a:spLocks noGrp="1"/>
          </p:cNvSpPr>
          <p:nvPr>
            <p:ph type="body" sz="quarter" idx="1"/>
          </p:nvPr>
        </p:nvSpPr>
        <p:spPr/>
        <p:txBody>
          <a:bodyPr/>
          <a:lstStyle/>
          <a:p>
            <a:pPr lvl="0"/>
            <a:endParaRPr lang="en-US"/>
          </a:p>
          <a:p>
            <a:pPr lvl="0"/>
            <a:endParaRPr lang="en-US"/>
          </a:p>
          <a:p>
            <a:pPr lvl="0"/>
            <a:endParaRPr lang="en-IL"/>
          </a:p>
        </p:txBody>
      </p:sp>
      <p:sp>
        <p:nvSpPr>
          <p:cNvPr id="4" name="Slide Number Placeholder 3">
            <a:extLst>
              <a:ext uri="{FF2B5EF4-FFF2-40B4-BE49-F238E27FC236}">
                <a16:creationId xmlns:a16="http://schemas.microsoft.com/office/drawing/2014/main" id="{692AFC9A-B758-2E11-9D11-4D678493B218}"/>
              </a:ext>
            </a:extLst>
          </p:cNvPr>
          <p:cNvSpPr txBox="1">
            <a:spLocks noGrp="1"/>
          </p:cNvSpPr>
          <p:nvPr>
            <p:ph type="sldNum" sz="quarter" idx="8"/>
          </p:nvPr>
        </p:nvSpPr>
        <p:spPr/>
        <p:txBody>
          <a:bodyPr/>
          <a:lstStyle/>
          <a:p>
            <a:pPr lvl="0"/>
            <a:fld id="{2E2491F4-0BC6-4EC3-96B9-EA9624CAE93E}" type="slidenum">
              <a:t>12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D62997AB-AB94-4C68-A732-959E04A76C03}" type="slidenum">
              <a:rPr lang="en-US" smtClean="0"/>
              <a:t>16</a:t>
            </a:fld>
            <a:endParaRPr lang="en-US"/>
          </a:p>
        </p:txBody>
      </p:sp>
    </p:spTree>
    <p:extLst>
      <p:ext uri="{BB962C8B-B14F-4D97-AF65-F5344CB8AC3E}">
        <p14:creationId xmlns:p14="http://schemas.microsoft.com/office/powerpoint/2010/main" val="3373379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2206C32E-903D-F9D5-B185-1EA3877E7F22}"/>
              </a:ext>
            </a:extLst>
          </p:cNvPr>
          <p:cNvSpPr>
            <a:spLocks noGrp="1"/>
          </p:cNvSpPr>
          <p:nvPr>
            <p:ph type="ctrTitle"/>
          </p:nvPr>
        </p:nvSpPr>
        <p:spPr>
          <a:xfrm>
            <a:off x="1524000" y="1122363"/>
            <a:ext cx="9144000" cy="2387600"/>
          </a:xfrm>
        </p:spPr>
        <p:txBody>
          <a:bodyPr anchor="b"/>
          <a:lstStyle>
            <a:lvl1pPr algn="ctr">
              <a:defRPr sz="6000"/>
            </a:lvl1pPr>
          </a:lstStyle>
          <a:p>
            <a:r>
              <a:rPr lang="he-IL"/>
              <a:t>לחץ כדי לערוך סגנון כותרת של תבנית בסיס</a:t>
            </a:r>
            <a:endParaRPr lang="en-US"/>
          </a:p>
        </p:txBody>
      </p:sp>
      <p:sp>
        <p:nvSpPr>
          <p:cNvPr id="3" name="כותרת משנה 2">
            <a:extLst>
              <a:ext uri="{FF2B5EF4-FFF2-40B4-BE49-F238E27FC236}">
                <a16:creationId xmlns:a16="http://schemas.microsoft.com/office/drawing/2014/main" id="{C4B78725-AAD0-5C4D-D540-BDB43658036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endParaRPr lang="en-US"/>
          </a:p>
        </p:txBody>
      </p:sp>
      <p:sp>
        <p:nvSpPr>
          <p:cNvPr id="4" name="מציין מיקום של תאריך 3">
            <a:extLst>
              <a:ext uri="{FF2B5EF4-FFF2-40B4-BE49-F238E27FC236}">
                <a16:creationId xmlns:a16="http://schemas.microsoft.com/office/drawing/2014/main" id="{B8FE77E7-3B91-3E73-A340-F4E93C79987A}"/>
              </a:ext>
            </a:extLst>
          </p:cNvPr>
          <p:cNvSpPr>
            <a:spLocks noGrp="1"/>
          </p:cNvSpPr>
          <p:nvPr>
            <p:ph type="dt" sz="half" idx="10"/>
          </p:nvPr>
        </p:nvSpPr>
        <p:spPr/>
        <p:txBody>
          <a:bodyPr/>
          <a:lstStyle/>
          <a:p>
            <a:fld id="{01F2336F-CB72-4380-8860-02C1C1E9AABC}" type="datetime1">
              <a:rPr lang="en-US" smtClean="0"/>
              <a:t>11/8/2025</a:t>
            </a:fld>
            <a:endParaRPr lang="en-US"/>
          </a:p>
        </p:txBody>
      </p:sp>
      <p:sp>
        <p:nvSpPr>
          <p:cNvPr id="5" name="מציין מיקום של כותרת תחתונה 4">
            <a:extLst>
              <a:ext uri="{FF2B5EF4-FFF2-40B4-BE49-F238E27FC236}">
                <a16:creationId xmlns:a16="http://schemas.microsoft.com/office/drawing/2014/main" id="{150857C1-2110-6351-838F-6B6392186B4E}"/>
              </a:ext>
            </a:extLst>
          </p:cNvPr>
          <p:cNvSpPr>
            <a:spLocks noGrp="1"/>
          </p:cNvSpPr>
          <p:nvPr>
            <p:ph type="ftr" sz="quarter" idx="11"/>
          </p:nvPr>
        </p:nvSpPr>
        <p:spPr/>
        <p:txBody>
          <a:bodyPr/>
          <a:lstStyle/>
          <a:p>
            <a:endParaRPr lang="en-US"/>
          </a:p>
        </p:txBody>
      </p:sp>
      <p:sp>
        <p:nvSpPr>
          <p:cNvPr id="6" name="מציין מיקום של מספר שקופית 5">
            <a:extLst>
              <a:ext uri="{FF2B5EF4-FFF2-40B4-BE49-F238E27FC236}">
                <a16:creationId xmlns:a16="http://schemas.microsoft.com/office/drawing/2014/main" id="{B8F7B0EA-9804-F936-3F3E-B617032F22A6}"/>
              </a:ext>
            </a:extLst>
          </p:cNvPr>
          <p:cNvSpPr>
            <a:spLocks noGrp="1"/>
          </p:cNvSpPr>
          <p:nvPr>
            <p:ph type="sldNum" sz="quarter" idx="12"/>
          </p:nvPr>
        </p:nvSpPr>
        <p:spPr/>
        <p:txBody>
          <a:bodyPr/>
          <a:lstStyle/>
          <a:p>
            <a:fld id="{E8857CA7-8CDB-4DCB-9E96-A9FC7D5F934F}" type="slidenum">
              <a:rPr lang="en-US" smtClean="0"/>
              <a:t>‹#›</a:t>
            </a:fld>
            <a:endParaRPr lang="en-US"/>
          </a:p>
        </p:txBody>
      </p:sp>
    </p:spTree>
    <p:extLst>
      <p:ext uri="{BB962C8B-B14F-4D97-AF65-F5344CB8AC3E}">
        <p14:creationId xmlns:p14="http://schemas.microsoft.com/office/powerpoint/2010/main" val="5777609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4CAE98F5-8250-2651-76CF-0E8A578BE8EC}"/>
              </a:ext>
            </a:extLst>
          </p:cNvPr>
          <p:cNvSpPr>
            <a:spLocks noGrp="1"/>
          </p:cNvSpPr>
          <p:nvPr>
            <p:ph type="title"/>
          </p:nvPr>
        </p:nvSpPr>
        <p:spPr/>
        <p:txBody>
          <a:bodyPr/>
          <a:lstStyle/>
          <a:p>
            <a:r>
              <a:rPr lang="he-IL"/>
              <a:t>לחץ כדי לערוך סגנון כותרת של תבנית בסיס</a:t>
            </a:r>
            <a:endParaRPr lang="en-US"/>
          </a:p>
        </p:txBody>
      </p:sp>
      <p:sp>
        <p:nvSpPr>
          <p:cNvPr id="3" name="מציין מיקום תוכן 2">
            <a:extLst>
              <a:ext uri="{FF2B5EF4-FFF2-40B4-BE49-F238E27FC236}">
                <a16:creationId xmlns:a16="http://schemas.microsoft.com/office/drawing/2014/main" id="{0466901B-530A-33B0-1438-F0E779799771}"/>
              </a:ext>
            </a:extLst>
          </p:cNvPr>
          <p:cNvSpPr>
            <a:spLocks noGrp="1"/>
          </p:cNvSpPr>
          <p:nvPr>
            <p:ph idx="1"/>
          </p:nvPr>
        </p:nvSpPr>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a:p>
        </p:txBody>
      </p:sp>
      <p:sp>
        <p:nvSpPr>
          <p:cNvPr id="4" name="מציין מיקום של תאריך 3">
            <a:extLst>
              <a:ext uri="{FF2B5EF4-FFF2-40B4-BE49-F238E27FC236}">
                <a16:creationId xmlns:a16="http://schemas.microsoft.com/office/drawing/2014/main" id="{CF992FAC-B9CE-AA25-641F-AC6FFE4E4488}"/>
              </a:ext>
            </a:extLst>
          </p:cNvPr>
          <p:cNvSpPr>
            <a:spLocks noGrp="1"/>
          </p:cNvSpPr>
          <p:nvPr>
            <p:ph type="dt" sz="half" idx="10"/>
          </p:nvPr>
        </p:nvSpPr>
        <p:spPr/>
        <p:txBody>
          <a:bodyPr/>
          <a:lstStyle/>
          <a:p>
            <a:fld id="{F362A839-AB67-4A75-84CD-7D53E0B56A9D}" type="datetime1">
              <a:rPr lang="en-US" smtClean="0"/>
              <a:t>11/8/2025</a:t>
            </a:fld>
            <a:endParaRPr lang="en-US"/>
          </a:p>
        </p:txBody>
      </p:sp>
      <p:sp>
        <p:nvSpPr>
          <p:cNvPr id="5" name="מציין מיקום של כותרת תחתונה 4">
            <a:extLst>
              <a:ext uri="{FF2B5EF4-FFF2-40B4-BE49-F238E27FC236}">
                <a16:creationId xmlns:a16="http://schemas.microsoft.com/office/drawing/2014/main" id="{79ABC1DB-D163-4F62-1010-6F98D915288F}"/>
              </a:ext>
            </a:extLst>
          </p:cNvPr>
          <p:cNvSpPr>
            <a:spLocks noGrp="1"/>
          </p:cNvSpPr>
          <p:nvPr>
            <p:ph type="ftr" sz="quarter" idx="11"/>
          </p:nvPr>
        </p:nvSpPr>
        <p:spPr/>
        <p:txBody>
          <a:bodyPr/>
          <a:lstStyle/>
          <a:p>
            <a:endParaRPr lang="en-US"/>
          </a:p>
        </p:txBody>
      </p:sp>
      <p:sp>
        <p:nvSpPr>
          <p:cNvPr id="6" name="מציין מיקום של מספר שקופית 5">
            <a:extLst>
              <a:ext uri="{FF2B5EF4-FFF2-40B4-BE49-F238E27FC236}">
                <a16:creationId xmlns:a16="http://schemas.microsoft.com/office/drawing/2014/main" id="{B1FA45B4-F46E-5603-1FBA-10D30A4E9351}"/>
              </a:ext>
            </a:extLst>
          </p:cNvPr>
          <p:cNvSpPr>
            <a:spLocks noGrp="1"/>
          </p:cNvSpPr>
          <p:nvPr>
            <p:ph type="sldNum" sz="quarter" idx="12"/>
          </p:nvPr>
        </p:nvSpPr>
        <p:spPr/>
        <p:txBody>
          <a:bodyPr/>
          <a:lstStyle/>
          <a:p>
            <a:fld id="{E8857CA7-8CDB-4DCB-9E96-A9FC7D5F934F}" type="slidenum">
              <a:rPr lang="en-US" smtClean="0"/>
              <a:t>‹#›</a:t>
            </a:fld>
            <a:endParaRPr lang="en-US"/>
          </a:p>
        </p:txBody>
      </p:sp>
    </p:spTree>
    <p:extLst>
      <p:ext uri="{BB962C8B-B14F-4D97-AF65-F5344CB8AC3E}">
        <p14:creationId xmlns:p14="http://schemas.microsoft.com/office/powerpoint/2010/main" val="2678889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29B55B3E-D92B-9039-7E66-AF12C4602377}"/>
              </a:ext>
            </a:extLst>
          </p:cNvPr>
          <p:cNvSpPr>
            <a:spLocks noGrp="1"/>
          </p:cNvSpPr>
          <p:nvPr>
            <p:ph type="title"/>
          </p:nvPr>
        </p:nvSpPr>
        <p:spPr>
          <a:xfrm>
            <a:off x="831850" y="1709738"/>
            <a:ext cx="10515600" cy="2852737"/>
          </a:xfrm>
        </p:spPr>
        <p:txBody>
          <a:bodyPr anchor="b"/>
          <a:lstStyle>
            <a:lvl1pPr>
              <a:defRPr sz="6000"/>
            </a:lvl1pPr>
          </a:lstStyle>
          <a:p>
            <a:r>
              <a:rPr lang="he-IL"/>
              <a:t>לחץ כדי לערוך סגנון כותרת של תבנית בסיס</a:t>
            </a:r>
            <a:endParaRPr lang="en-US"/>
          </a:p>
        </p:txBody>
      </p:sp>
      <p:sp>
        <p:nvSpPr>
          <p:cNvPr id="3" name="מציין מיקום טקסט 2">
            <a:extLst>
              <a:ext uri="{FF2B5EF4-FFF2-40B4-BE49-F238E27FC236}">
                <a16:creationId xmlns:a16="http://schemas.microsoft.com/office/drawing/2014/main" id="{5229C237-96DE-BB8C-4539-A6C9B1C7274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he-IL"/>
              <a:t>לחץ כדי לערוך סגנונות טקסט של תבנית בסיס</a:t>
            </a:r>
          </a:p>
        </p:txBody>
      </p:sp>
      <p:sp>
        <p:nvSpPr>
          <p:cNvPr id="4" name="מציין מיקום של תאריך 3">
            <a:extLst>
              <a:ext uri="{FF2B5EF4-FFF2-40B4-BE49-F238E27FC236}">
                <a16:creationId xmlns:a16="http://schemas.microsoft.com/office/drawing/2014/main" id="{3E63564A-EEEB-CEEE-E9DA-513AFE932EBC}"/>
              </a:ext>
            </a:extLst>
          </p:cNvPr>
          <p:cNvSpPr>
            <a:spLocks noGrp="1"/>
          </p:cNvSpPr>
          <p:nvPr>
            <p:ph type="dt" sz="half" idx="10"/>
          </p:nvPr>
        </p:nvSpPr>
        <p:spPr/>
        <p:txBody>
          <a:bodyPr/>
          <a:lstStyle/>
          <a:p>
            <a:fld id="{47F3F036-7E1E-4E38-B880-31EFE670552E}" type="datetime1">
              <a:rPr lang="en-US" smtClean="0"/>
              <a:t>11/8/2025</a:t>
            </a:fld>
            <a:endParaRPr lang="en-US"/>
          </a:p>
        </p:txBody>
      </p:sp>
      <p:sp>
        <p:nvSpPr>
          <p:cNvPr id="5" name="מציין מיקום של כותרת תחתונה 4">
            <a:extLst>
              <a:ext uri="{FF2B5EF4-FFF2-40B4-BE49-F238E27FC236}">
                <a16:creationId xmlns:a16="http://schemas.microsoft.com/office/drawing/2014/main" id="{E5FB6CF8-6197-8DD6-47B0-B5B4E5F6B14D}"/>
              </a:ext>
            </a:extLst>
          </p:cNvPr>
          <p:cNvSpPr>
            <a:spLocks noGrp="1"/>
          </p:cNvSpPr>
          <p:nvPr>
            <p:ph type="ftr" sz="quarter" idx="11"/>
          </p:nvPr>
        </p:nvSpPr>
        <p:spPr/>
        <p:txBody>
          <a:bodyPr/>
          <a:lstStyle/>
          <a:p>
            <a:endParaRPr lang="en-US"/>
          </a:p>
        </p:txBody>
      </p:sp>
      <p:sp>
        <p:nvSpPr>
          <p:cNvPr id="6" name="מציין מיקום של מספר שקופית 5">
            <a:extLst>
              <a:ext uri="{FF2B5EF4-FFF2-40B4-BE49-F238E27FC236}">
                <a16:creationId xmlns:a16="http://schemas.microsoft.com/office/drawing/2014/main" id="{EC6C5BCF-3A2C-66F9-332D-1FD54879AA52}"/>
              </a:ext>
            </a:extLst>
          </p:cNvPr>
          <p:cNvSpPr>
            <a:spLocks noGrp="1"/>
          </p:cNvSpPr>
          <p:nvPr>
            <p:ph type="sldNum" sz="quarter" idx="12"/>
          </p:nvPr>
        </p:nvSpPr>
        <p:spPr/>
        <p:txBody>
          <a:bodyPr/>
          <a:lstStyle/>
          <a:p>
            <a:fld id="{E8857CA7-8CDB-4DCB-9E96-A9FC7D5F934F}" type="slidenum">
              <a:rPr lang="en-US" smtClean="0"/>
              <a:t>‹#›</a:t>
            </a:fld>
            <a:endParaRPr lang="en-US"/>
          </a:p>
        </p:txBody>
      </p:sp>
    </p:spTree>
    <p:extLst>
      <p:ext uri="{BB962C8B-B14F-4D97-AF65-F5344CB8AC3E}">
        <p14:creationId xmlns:p14="http://schemas.microsoft.com/office/powerpoint/2010/main" val="11873769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2188169F-0422-35B3-FED5-3DC3EBCC06F9}"/>
              </a:ext>
            </a:extLst>
          </p:cNvPr>
          <p:cNvSpPr>
            <a:spLocks noGrp="1"/>
          </p:cNvSpPr>
          <p:nvPr>
            <p:ph type="title"/>
          </p:nvPr>
        </p:nvSpPr>
        <p:spPr/>
        <p:txBody>
          <a:bodyPr/>
          <a:lstStyle/>
          <a:p>
            <a:r>
              <a:rPr lang="he-IL"/>
              <a:t>לחץ כדי לערוך סגנון כותרת של תבנית בסיס</a:t>
            </a:r>
            <a:endParaRPr lang="en-US"/>
          </a:p>
        </p:txBody>
      </p:sp>
      <p:sp>
        <p:nvSpPr>
          <p:cNvPr id="3" name="מציין מיקום תוכן 2">
            <a:extLst>
              <a:ext uri="{FF2B5EF4-FFF2-40B4-BE49-F238E27FC236}">
                <a16:creationId xmlns:a16="http://schemas.microsoft.com/office/drawing/2014/main" id="{63C79E06-8352-CF5A-8FBB-A042CB16A7C5}"/>
              </a:ext>
            </a:extLst>
          </p:cNvPr>
          <p:cNvSpPr>
            <a:spLocks noGrp="1"/>
          </p:cNvSpPr>
          <p:nvPr>
            <p:ph sz="half" idx="1"/>
          </p:nvPr>
        </p:nvSpPr>
        <p:spPr>
          <a:xfrm>
            <a:off x="838200" y="1825625"/>
            <a:ext cx="51816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a:p>
        </p:txBody>
      </p:sp>
      <p:sp>
        <p:nvSpPr>
          <p:cNvPr id="4" name="מציין מיקום תוכן 3">
            <a:extLst>
              <a:ext uri="{FF2B5EF4-FFF2-40B4-BE49-F238E27FC236}">
                <a16:creationId xmlns:a16="http://schemas.microsoft.com/office/drawing/2014/main" id="{D3A8EB3E-6D6B-CF38-0E11-107D36071323}"/>
              </a:ext>
            </a:extLst>
          </p:cNvPr>
          <p:cNvSpPr>
            <a:spLocks noGrp="1"/>
          </p:cNvSpPr>
          <p:nvPr>
            <p:ph sz="half" idx="2"/>
          </p:nvPr>
        </p:nvSpPr>
        <p:spPr>
          <a:xfrm>
            <a:off x="6172200" y="1825625"/>
            <a:ext cx="51816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a:p>
        </p:txBody>
      </p:sp>
      <p:sp>
        <p:nvSpPr>
          <p:cNvPr id="5" name="מציין מיקום של תאריך 4">
            <a:extLst>
              <a:ext uri="{FF2B5EF4-FFF2-40B4-BE49-F238E27FC236}">
                <a16:creationId xmlns:a16="http://schemas.microsoft.com/office/drawing/2014/main" id="{CCBB6D2D-81FD-E77B-55C0-E08932267C71}"/>
              </a:ext>
            </a:extLst>
          </p:cNvPr>
          <p:cNvSpPr>
            <a:spLocks noGrp="1"/>
          </p:cNvSpPr>
          <p:nvPr>
            <p:ph type="dt" sz="half" idx="10"/>
          </p:nvPr>
        </p:nvSpPr>
        <p:spPr/>
        <p:txBody>
          <a:bodyPr/>
          <a:lstStyle/>
          <a:p>
            <a:fld id="{0159FDA6-CE84-46F0-B762-46CA1705B6FF}" type="datetime1">
              <a:rPr lang="en-US" smtClean="0"/>
              <a:t>11/8/2025</a:t>
            </a:fld>
            <a:endParaRPr lang="en-US"/>
          </a:p>
        </p:txBody>
      </p:sp>
      <p:sp>
        <p:nvSpPr>
          <p:cNvPr id="6" name="מציין מיקום של כותרת תחתונה 5">
            <a:extLst>
              <a:ext uri="{FF2B5EF4-FFF2-40B4-BE49-F238E27FC236}">
                <a16:creationId xmlns:a16="http://schemas.microsoft.com/office/drawing/2014/main" id="{47A96BCF-28E0-21F1-E80B-E605AC902706}"/>
              </a:ext>
            </a:extLst>
          </p:cNvPr>
          <p:cNvSpPr>
            <a:spLocks noGrp="1"/>
          </p:cNvSpPr>
          <p:nvPr>
            <p:ph type="ftr" sz="quarter" idx="11"/>
          </p:nvPr>
        </p:nvSpPr>
        <p:spPr/>
        <p:txBody>
          <a:bodyPr/>
          <a:lstStyle/>
          <a:p>
            <a:endParaRPr lang="en-US"/>
          </a:p>
        </p:txBody>
      </p:sp>
      <p:sp>
        <p:nvSpPr>
          <p:cNvPr id="7" name="מציין מיקום של מספר שקופית 6">
            <a:extLst>
              <a:ext uri="{FF2B5EF4-FFF2-40B4-BE49-F238E27FC236}">
                <a16:creationId xmlns:a16="http://schemas.microsoft.com/office/drawing/2014/main" id="{1857709E-37E6-1ED7-CF96-2C94037113F2}"/>
              </a:ext>
            </a:extLst>
          </p:cNvPr>
          <p:cNvSpPr>
            <a:spLocks noGrp="1"/>
          </p:cNvSpPr>
          <p:nvPr>
            <p:ph type="sldNum" sz="quarter" idx="12"/>
          </p:nvPr>
        </p:nvSpPr>
        <p:spPr/>
        <p:txBody>
          <a:bodyPr/>
          <a:lstStyle/>
          <a:p>
            <a:fld id="{E8857CA7-8CDB-4DCB-9E96-A9FC7D5F934F}" type="slidenum">
              <a:rPr lang="en-US" smtClean="0"/>
              <a:t>‹#›</a:t>
            </a:fld>
            <a:endParaRPr lang="en-US"/>
          </a:p>
        </p:txBody>
      </p:sp>
    </p:spTree>
    <p:extLst>
      <p:ext uri="{BB962C8B-B14F-4D97-AF65-F5344CB8AC3E}">
        <p14:creationId xmlns:p14="http://schemas.microsoft.com/office/powerpoint/2010/main" val="22889175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E543B086-9FC2-EFB9-E21E-B4A2712B0579}"/>
              </a:ext>
            </a:extLst>
          </p:cNvPr>
          <p:cNvSpPr>
            <a:spLocks noGrp="1"/>
          </p:cNvSpPr>
          <p:nvPr>
            <p:ph type="title"/>
          </p:nvPr>
        </p:nvSpPr>
        <p:spPr>
          <a:xfrm>
            <a:off x="839788" y="365125"/>
            <a:ext cx="10515600" cy="1325563"/>
          </a:xfrm>
        </p:spPr>
        <p:txBody>
          <a:bodyPr/>
          <a:lstStyle/>
          <a:p>
            <a:r>
              <a:rPr lang="he-IL"/>
              <a:t>לחץ כדי לערוך סגנון כותרת של תבנית בסיס</a:t>
            </a:r>
            <a:endParaRPr lang="en-US"/>
          </a:p>
        </p:txBody>
      </p:sp>
      <p:sp>
        <p:nvSpPr>
          <p:cNvPr id="3" name="מציין מיקום טקסט 2">
            <a:extLst>
              <a:ext uri="{FF2B5EF4-FFF2-40B4-BE49-F238E27FC236}">
                <a16:creationId xmlns:a16="http://schemas.microsoft.com/office/drawing/2014/main" id="{41E94F10-F3B9-907C-8B78-1BE7B30856B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4" name="מציין מיקום תוכן 3">
            <a:extLst>
              <a:ext uri="{FF2B5EF4-FFF2-40B4-BE49-F238E27FC236}">
                <a16:creationId xmlns:a16="http://schemas.microsoft.com/office/drawing/2014/main" id="{E3E36F08-894F-5A0F-4188-9BB26B7589E8}"/>
              </a:ext>
            </a:extLst>
          </p:cNvPr>
          <p:cNvSpPr>
            <a:spLocks noGrp="1"/>
          </p:cNvSpPr>
          <p:nvPr>
            <p:ph sz="half" idx="2"/>
          </p:nvPr>
        </p:nvSpPr>
        <p:spPr>
          <a:xfrm>
            <a:off x="839788" y="2505075"/>
            <a:ext cx="5157787"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a:p>
        </p:txBody>
      </p:sp>
      <p:sp>
        <p:nvSpPr>
          <p:cNvPr id="5" name="מציין מיקום טקסט 4">
            <a:extLst>
              <a:ext uri="{FF2B5EF4-FFF2-40B4-BE49-F238E27FC236}">
                <a16:creationId xmlns:a16="http://schemas.microsoft.com/office/drawing/2014/main" id="{05DAFC98-32E8-C687-04A1-81CBE95A7EF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6" name="מציין מיקום תוכן 5">
            <a:extLst>
              <a:ext uri="{FF2B5EF4-FFF2-40B4-BE49-F238E27FC236}">
                <a16:creationId xmlns:a16="http://schemas.microsoft.com/office/drawing/2014/main" id="{B8337889-8F43-8E92-7CAE-41511048BA7D}"/>
              </a:ext>
            </a:extLst>
          </p:cNvPr>
          <p:cNvSpPr>
            <a:spLocks noGrp="1"/>
          </p:cNvSpPr>
          <p:nvPr>
            <p:ph sz="quarter" idx="4"/>
          </p:nvPr>
        </p:nvSpPr>
        <p:spPr>
          <a:xfrm>
            <a:off x="6172200" y="2505075"/>
            <a:ext cx="5183188"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a:p>
        </p:txBody>
      </p:sp>
      <p:sp>
        <p:nvSpPr>
          <p:cNvPr id="7" name="מציין מיקום של תאריך 6">
            <a:extLst>
              <a:ext uri="{FF2B5EF4-FFF2-40B4-BE49-F238E27FC236}">
                <a16:creationId xmlns:a16="http://schemas.microsoft.com/office/drawing/2014/main" id="{970140D8-8040-3B5D-4B91-D9FA7E1D2AD8}"/>
              </a:ext>
            </a:extLst>
          </p:cNvPr>
          <p:cNvSpPr>
            <a:spLocks noGrp="1"/>
          </p:cNvSpPr>
          <p:nvPr>
            <p:ph type="dt" sz="half" idx="10"/>
          </p:nvPr>
        </p:nvSpPr>
        <p:spPr/>
        <p:txBody>
          <a:bodyPr/>
          <a:lstStyle/>
          <a:p>
            <a:fld id="{AE425F61-67F3-47E4-9BE9-CAA47A7267A1}" type="datetime1">
              <a:rPr lang="en-US" smtClean="0"/>
              <a:t>11/8/2025</a:t>
            </a:fld>
            <a:endParaRPr lang="en-US"/>
          </a:p>
        </p:txBody>
      </p:sp>
      <p:sp>
        <p:nvSpPr>
          <p:cNvPr id="8" name="מציין מיקום של כותרת תחתונה 7">
            <a:extLst>
              <a:ext uri="{FF2B5EF4-FFF2-40B4-BE49-F238E27FC236}">
                <a16:creationId xmlns:a16="http://schemas.microsoft.com/office/drawing/2014/main" id="{F8242613-8DEB-EA19-1AA6-C46423578A29}"/>
              </a:ext>
            </a:extLst>
          </p:cNvPr>
          <p:cNvSpPr>
            <a:spLocks noGrp="1"/>
          </p:cNvSpPr>
          <p:nvPr>
            <p:ph type="ftr" sz="quarter" idx="11"/>
          </p:nvPr>
        </p:nvSpPr>
        <p:spPr/>
        <p:txBody>
          <a:bodyPr/>
          <a:lstStyle/>
          <a:p>
            <a:endParaRPr lang="en-US"/>
          </a:p>
        </p:txBody>
      </p:sp>
      <p:sp>
        <p:nvSpPr>
          <p:cNvPr id="9" name="מציין מיקום של מספר שקופית 8">
            <a:extLst>
              <a:ext uri="{FF2B5EF4-FFF2-40B4-BE49-F238E27FC236}">
                <a16:creationId xmlns:a16="http://schemas.microsoft.com/office/drawing/2014/main" id="{560B302E-0CF5-718C-0B85-45E44525815D}"/>
              </a:ext>
            </a:extLst>
          </p:cNvPr>
          <p:cNvSpPr>
            <a:spLocks noGrp="1"/>
          </p:cNvSpPr>
          <p:nvPr>
            <p:ph type="sldNum" sz="quarter" idx="12"/>
          </p:nvPr>
        </p:nvSpPr>
        <p:spPr/>
        <p:txBody>
          <a:bodyPr/>
          <a:lstStyle/>
          <a:p>
            <a:fld id="{E8857CA7-8CDB-4DCB-9E96-A9FC7D5F934F}" type="slidenum">
              <a:rPr lang="en-US" smtClean="0"/>
              <a:t>‹#›</a:t>
            </a:fld>
            <a:endParaRPr lang="en-US"/>
          </a:p>
        </p:txBody>
      </p:sp>
    </p:spTree>
    <p:extLst>
      <p:ext uri="{BB962C8B-B14F-4D97-AF65-F5344CB8AC3E}">
        <p14:creationId xmlns:p14="http://schemas.microsoft.com/office/powerpoint/2010/main" val="23694420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62E37BBB-1D68-900A-4BA5-13B669DF00F7}"/>
              </a:ext>
            </a:extLst>
          </p:cNvPr>
          <p:cNvSpPr>
            <a:spLocks noGrp="1"/>
          </p:cNvSpPr>
          <p:nvPr>
            <p:ph type="title"/>
          </p:nvPr>
        </p:nvSpPr>
        <p:spPr/>
        <p:txBody>
          <a:bodyPr/>
          <a:lstStyle/>
          <a:p>
            <a:r>
              <a:rPr lang="he-IL"/>
              <a:t>לחץ כדי לערוך סגנון כותרת של תבנית בסיס</a:t>
            </a:r>
            <a:endParaRPr lang="en-US"/>
          </a:p>
        </p:txBody>
      </p:sp>
      <p:sp>
        <p:nvSpPr>
          <p:cNvPr id="3" name="מציין מיקום של תאריך 2">
            <a:extLst>
              <a:ext uri="{FF2B5EF4-FFF2-40B4-BE49-F238E27FC236}">
                <a16:creationId xmlns:a16="http://schemas.microsoft.com/office/drawing/2014/main" id="{5EEFE4D9-EEED-F0A9-E907-54153C21C957}"/>
              </a:ext>
            </a:extLst>
          </p:cNvPr>
          <p:cNvSpPr>
            <a:spLocks noGrp="1"/>
          </p:cNvSpPr>
          <p:nvPr>
            <p:ph type="dt" sz="half" idx="10"/>
          </p:nvPr>
        </p:nvSpPr>
        <p:spPr/>
        <p:txBody>
          <a:bodyPr/>
          <a:lstStyle/>
          <a:p>
            <a:fld id="{3342DEDF-A1EE-4A51-983D-3268F3C8D7A9}" type="datetime1">
              <a:rPr lang="en-US" smtClean="0"/>
              <a:t>11/8/2025</a:t>
            </a:fld>
            <a:endParaRPr lang="en-US"/>
          </a:p>
        </p:txBody>
      </p:sp>
      <p:sp>
        <p:nvSpPr>
          <p:cNvPr id="4" name="מציין מיקום של כותרת תחתונה 3">
            <a:extLst>
              <a:ext uri="{FF2B5EF4-FFF2-40B4-BE49-F238E27FC236}">
                <a16:creationId xmlns:a16="http://schemas.microsoft.com/office/drawing/2014/main" id="{1CC524AF-32E9-2D65-A803-DB4CF22D8B07}"/>
              </a:ext>
            </a:extLst>
          </p:cNvPr>
          <p:cNvSpPr>
            <a:spLocks noGrp="1"/>
          </p:cNvSpPr>
          <p:nvPr>
            <p:ph type="ftr" sz="quarter" idx="11"/>
          </p:nvPr>
        </p:nvSpPr>
        <p:spPr/>
        <p:txBody>
          <a:bodyPr/>
          <a:lstStyle/>
          <a:p>
            <a:endParaRPr lang="en-US"/>
          </a:p>
        </p:txBody>
      </p:sp>
      <p:sp>
        <p:nvSpPr>
          <p:cNvPr id="5" name="מציין מיקום של מספר שקופית 4">
            <a:extLst>
              <a:ext uri="{FF2B5EF4-FFF2-40B4-BE49-F238E27FC236}">
                <a16:creationId xmlns:a16="http://schemas.microsoft.com/office/drawing/2014/main" id="{7FB5A069-4F0E-787D-DA56-CCC2FDF37737}"/>
              </a:ext>
            </a:extLst>
          </p:cNvPr>
          <p:cNvSpPr>
            <a:spLocks noGrp="1"/>
          </p:cNvSpPr>
          <p:nvPr>
            <p:ph type="sldNum" sz="quarter" idx="12"/>
          </p:nvPr>
        </p:nvSpPr>
        <p:spPr/>
        <p:txBody>
          <a:bodyPr/>
          <a:lstStyle/>
          <a:p>
            <a:fld id="{E8857CA7-8CDB-4DCB-9E96-A9FC7D5F934F}" type="slidenum">
              <a:rPr lang="en-US" smtClean="0"/>
              <a:t>‹#›</a:t>
            </a:fld>
            <a:endParaRPr lang="en-US"/>
          </a:p>
        </p:txBody>
      </p:sp>
    </p:spTree>
    <p:extLst>
      <p:ext uri="{BB962C8B-B14F-4D97-AF65-F5344CB8AC3E}">
        <p14:creationId xmlns:p14="http://schemas.microsoft.com/office/powerpoint/2010/main" val="38230276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a:extLst>
              <a:ext uri="{FF2B5EF4-FFF2-40B4-BE49-F238E27FC236}">
                <a16:creationId xmlns:a16="http://schemas.microsoft.com/office/drawing/2014/main" id="{98A32271-C612-4CE2-8510-7214DD1F61D1}"/>
              </a:ext>
            </a:extLst>
          </p:cNvPr>
          <p:cNvSpPr>
            <a:spLocks noGrp="1"/>
          </p:cNvSpPr>
          <p:nvPr>
            <p:ph type="dt" sz="half" idx="10"/>
          </p:nvPr>
        </p:nvSpPr>
        <p:spPr/>
        <p:txBody>
          <a:bodyPr/>
          <a:lstStyle/>
          <a:p>
            <a:fld id="{FB44E1F8-754A-4845-B598-8F0F66F2AC48}" type="datetime1">
              <a:rPr lang="en-US" smtClean="0"/>
              <a:t>11/8/2025</a:t>
            </a:fld>
            <a:endParaRPr lang="en-US"/>
          </a:p>
        </p:txBody>
      </p:sp>
      <p:sp>
        <p:nvSpPr>
          <p:cNvPr id="3" name="מציין מיקום של כותרת תחתונה 2">
            <a:extLst>
              <a:ext uri="{FF2B5EF4-FFF2-40B4-BE49-F238E27FC236}">
                <a16:creationId xmlns:a16="http://schemas.microsoft.com/office/drawing/2014/main" id="{CAF7A1D2-A9AD-8746-5D06-178227C63C75}"/>
              </a:ext>
            </a:extLst>
          </p:cNvPr>
          <p:cNvSpPr>
            <a:spLocks noGrp="1"/>
          </p:cNvSpPr>
          <p:nvPr>
            <p:ph type="ftr" sz="quarter" idx="11"/>
          </p:nvPr>
        </p:nvSpPr>
        <p:spPr/>
        <p:txBody>
          <a:bodyPr/>
          <a:lstStyle/>
          <a:p>
            <a:endParaRPr lang="en-US"/>
          </a:p>
        </p:txBody>
      </p:sp>
      <p:sp>
        <p:nvSpPr>
          <p:cNvPr id="4" name="מציין מיקום של מספר שקופית 3">
            <a:extLst>
              <a:ext uri="{FF2B5EF4-FFF2-40B4-BE49-F238E27FC236}">
                <a16:creationId xmlns:a16="http://schemas.microsoft.com/office/drawing/2014/main" id="{9CB5A268-3485-B48B-FE08-775A75C940A5}"/>
              </a:ext>
            </a:extLst>
          </p:cNvPr>
          <p:cNvSpPr>
            <a:spLocks noGrp="1"/>
          </p:cNvSpPr>
          <p:nvPr>
            <p:ph type="sldNum" sz="quarter" idx="12"/>
          </p:nvPr>
        </p:nvSpPr>
        <p:spPr/>
        <p:txBody>
          <a:bodyPr/>
          <a:lstStyle/>
          <a:p>
            <a:fld id="{E8857CA7-8CDB-4DCB-9E96-A9FC7D5F934F}" type="slidenum">
              <a:rPr lang="en-US" smtClean="0"/>
              <a:t>‹#›</a:t>
            </a:fld>
            <a:endParaRPr lang="en-US"/>
          </a:p>
        </p:txBody>
      </p:sp>
    </p:spTree>
    <p:extLst>
      <p:ext uri="{BB962C8B-B14F-4D97-AF65-F5344CB8AC3E}">
        <p14:creationId xmlns:p14="http://schemas.microsoft.com/office/powerpoint/2010/main" val="2682937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1543BF26-2249-0F98-3762-23FB4BF74A2E}"/>
              </a:ext>
            </a:extLst>
          </p:cNvPr>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endParaRPr lang="en-US"/>
          </a:p>
        </p:txBody>
      </p:sp>
      <p:sp>
        <p:nvSpPr>
          <p:cNvPr id="3" name="מציין מיקום תוכן 2">
            <a:extLst>
              <a:ext uri="{FF2B5EF4-FFF2-40B4-BE49-F238E27FC236}">
                <a16:creationId xmlns:a16="http://schemas.microsoft.com/office/drawing/2014/main" id="{CA6308BA-7DC5-2536-3632-C27F05859F1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a:p>
        </p:txBody>
      </p:sp>
      <p:sp>
        <p:nvSpPr>
          <p:cNvPr id="4" name="מציין מיקום טקסט 3">
            <a:extLst>
              <a:ext uri="{FF2B5EF4-FFF2-40B4-BE49-F238E27FC236}">
                <a16:creationId xmlns:a16="http://schemas.microsoft.com/office/drawing/2014/main" id="{FBEDC1B4-AE58-ECD4-A7E0-9A1B49111DD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מציין מיקום של תאריך 4">
            <a:extLst>
              <a:ext uri="{FF2B5EF4-FFF2-40B4-BE49-F238E27FC236}">
                <a16:creationId xmlns:a16="http://schemas.microsoft.com/office/drawing/2014/main" id="{D175F83E-7EAB-08A2-FC2C-27EDE5ECA07F}"/>
              </a:ext>
            </a:extLst>
          </p:cNvPr>
          <p:cNvSpPr>
            <a:spLocks noGrp="1"/>
          </p:cNvSpPr>
          <p:nvPr>
            <p:ph type="dt" sz="half" idx="10"/>
          </p:nvPr>
        </p:nvSpPr>
        <p:spPr/>
        <p:txBody>
          <a:bodyPr/>
          <a:lstStyle/>
          <a:p>
            <a:fld id="{940FAB6B-473B-48B7-8102-94C8628FA188}" type="datetime1">
              <a:rPr lang="en-US" smtClean="0"/>
              <a:t>11/8/2025</a:t>
            </a:fld>
            <a:endParaRPr lang="en-US"/>
          </a:p>
        </p:txBody>
      </p:sp>
      <p:sp>
        <p:nvSpPr>
          <p:cNvPr id="6" name="מציין מיקום של כותרת תחתונה 5">
            <a:extLst>
              <a:ext uri="{FF2B5EF4-FFF2-40B4-BE49-F238E27FC236}">
                <a16:creationId xmlns:a16="http://schemas.microsoft.com/office/drawing/2014/main" id="{8F44B8B1-FBBE-1C7C-1152-787551564495}"/>
              </a:ext>
            </a:extLst>
          </p:cNvPr>
          <p:cNvSpPr>
            <a:spLocks noGrp="1"/>
          </p:cNvSpPr>
          <p:nvPr>
            <p:ph type="ftr" sz="quarter" idx="11"/>
          </p:nvPr>
        </p:nvSpPr>
        <p:spPr/>
        <p:txBody>
          <a:bodyPr/>
          <a:lstStyle/>
          <a:p>
            <a:endParaRPr lang="en-US"/>
          </a:p>
        </p:txBody>
      </p:sp>
      <p:sp>
        <p:nvSpPr>
          <p:cNvPr id="7" name="מציין מיקום של מספר שקופית 6">
            <a:extLst>
              <a:ext uri="{FF2B5EF4-FFF2-40B4-BE49-F238E27FC236}">
                <a16:creationId xmlns:a16="http://schemas.microsoft.com/office/drawing/2014/main" id="{94734938-E4C1-6905-0A7A-8D9131DABCA4}"/>
              </a:ext>
            </a:extLst>
          </p:cNvPr>
          <p:cNvSpPr>
            <a:spLocks noGrp="1"/>
          </p:cNvSpPr>
          <p:nvPr>
            <p:ph type="sldNum" sz="quarter" idx="12"/>
          </p:nvPr>
        </p:nvSpPr>
        <p:spPr/>
        <p:txBody>
          <a:bodyPr/>
          <a:lstStyle/>
          <a:p>
            <a:fld id="{E8857CA7-8CDB-4DCB-9E96-A9FC7D5F934F}" type="slidenum">
              <a:rPr lang="en-US" smtClean="0"/>
              <a:t>‹#›</a:t>
            </a:fld>
            <a:endParaRPr lang="en-US"/>
          </a:p>
        </p:txBody>
      </p:sp>
    </p:spTree>
    <p:extLst>
      <p:ext uri="{BB962C8B-B14F-4D97-AF65-F5344CB8AC3E}">
        <p14:creationId xmlns:p14="http://schemas.microsoft.com/office/powerpoint/2010/main" val="4107382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D8B19784-699F-8717-21C2-E4DB47733980}"/>
              </a:ext>
            </a:extLst>
          </p:cNvPr>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endParaRPr lang="en-US"/>
          </a:p>
        </p:txBody>
      </p:sp>
      <p:sp>
        <p:nvSpPr>
          <p:cNvPr id="3" name="מציין מיקום של תמונה 2">
            <a:extLst>
              <a:ext uri="{FF2B5EF4-FFF2-40B4-BE49-F238E27FC236}">
                <a16:creationId xmlns:a16="http://schemas.microsoft.com/office/drawing/2014/main" id="{BA5695BE-94E6-BDBC-88F9-750569DBAEC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מציין מיקום טקסט 3">
            <a:extLst>
              <a:ext uri="{FF2B5EF4-FFF2-40B4-BE49-F238E27FC236}">
                <a16:creationId xmlns:a16="http://schemas.microsoft.com/office/drawing/2014/main" id="{6F4FF03B-6FA7-C6CF-E48A-03B53D09A5A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מציין מיקום של תאריך 4">
            <a:extLst>
              <a:ext uri="{FF2B5EF4-FFF2-40B4-BE49-F238E27FC236}">
                <a16:creationId xmlns:a16="http://schemas.microsoft.com/office/drawing/2014/main" id="{0C582D4B-77BF-5F39-33B8-09BD09CB7BBD}"/>
              </a:ext>
            </a:extLst>
          </p:cNvPr>
          <p:cNvSpPr>
            <a:spLocks noGrp="1"/>
          </p:cNvSpPr>
          <p:nvPr>
            <p:ph type="dt" sz="half" idx="10"/>
          </p:nvPr>
        </p:nvSpPr>
        <p:spPr/>
        <p:txBody>
          <a:bodyPr/>
          <a:lstStyle/>
          <a:p>
            <a:fld id="{E046646E-63EA-4397-B761-62AD168FA854}" type="datetime1">
              <a:rPr lang="en-US" smtClean="0"/>
              <a:t>11/8/2025</a:t>
            </a:fld>
            <a:endParaRPr lang="en-US"/>
          </a:p>
        </p:txBody>
      </p:sp>
      <p:sp>
        <p:nvSpPr>
          <p:cNvPr id="6" name="מציין מיקום של כותרת תחתונה 5">
            <a:extLst>
              <a:ext uri="{FF2B5EF4-FFF2-40B4-BE49-F238E27FC236}">
                <a16:creationId xmlns:a16="http://schemas.microsoft.com/office/drawing/2014/main" id="{6D1BA9E9-1082-9318-1397-4082E541312D}"/>
              </a:ext>
            </a:extLst>
          </p:cNvPr>
          <p:cNvSpPr>
            <a:spLocks noGrp="1"/>
          </p:cNvSpPr>
          <p:nvPr>
            <p:ph type="ftr" sz="quarter" idx="11"/>
          </p:nvPr>
        </p:nvSpPr>
        <p:spPr/>
        <p:txBody>
          <a:bodyPr/>
          <a:lstStyle/>
          <a:p>
            <a:endParaRPr lang="en-US"/>
          </a:p>
        </p:txBody>
      </p:sp>
      <p:sp>
        <p:nvSpPr>
          <p:cNvPr id="7" name="מציין מיקום של מספר שקופית 6">
            <a:extLst>
              <a:ext uri="{FF2B5EF4-FFF2-40B4-BE49-F238E27FC236}">
                <a16:creationId xmlns:a16="http://schemas.microsoft.com/office/drawing/2014/main" id="{556FC1A5-CE28-1EC1-3D73-992EFA289CA2}"/>
              </a:ext>
            </a:extLst>
          </p:cNvPr>
          <p:cNvSpPr>
            <a:spLocks noGrp="1"/>
          </p:cNvSpPr>
          <p:nvPr>
            <p:ph type="sldNum" sz="quarter" idx="12"/>
          </p:nvPr>
        </p:nvSpPr>
        <p:spPr/>
        <p:txBody>
          <a:bodyPr/>
          <a:lstStyle/>
          <a:p>
            <a:fld id="{E8857CA7-8CDB-4DCB-9E96-A9FC7D5F934F}" type="slidenum">
              <a:rPr lang="en-US" smtClean="0"/>
              <a:t>‹#›</a:t>
            </a:fld>
            <a:endParaRPr lang="en-US"/>
          </a:p>
        </p:txBody>
      </p:sp>
    </p:spTree>
    <p:extLst>
      <p:ext uri="{BB962C8B-B14F-4D97-AF65-F5344CB8AC3E}">
        <p14:creationId xmlns:p14="http://schemas.microsoft.com/office/powerpoint/2010/main" val="4216166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B79A4587-3E83-C3A0-A94C-3428B3CF786F}"/>
              </a:ext>
            </a:extLst>
          </p:cNvPr>
          <p:cNvSpPr>
            <a:spLocks noGrp="1"/>
          </p:cNvSpPr>
          <p:nvPr>
            <p:ph type="title"/>
          </p:nvPr>
        </p:nvSpPr>
        <p:spPr/>
        <p:txBody>
          <a:bodyPr/>
          <a:lstStyle/>
          <a:p>
            <a:r>
              <a:rPr lang="he-IL"/>
              <a:t>לחץ כדי לערוך סגנון כותרת של תבנית בסיס</a:t>
            </a:r>
            <a:endParaRPr lang="en-US"/>
          </a:p>
        </p:txBody>
      </p:sp>
      <p:sp>
        <p:nvSpPr>
          <p:cNvPr id="3" name="מציין מיקום של טקסט אנכי 2">
            <a:extLst>
              <a:ext uri="{FF2B5EF4-FFF2-40B4-BE49-F238E27FC236}">
                <a16:creationId xmlns:a16="http://schemas.microsoft.com/office/drawing/2014/main" id="{BA0D84E4-6F97-6CDF-85DB-F5D31CCF30BD}"/>
              </a:ext>
            </a:extLst>
          </p:cNvPr>
          <p:cNvSpPr>
            <a:spLocks noGrp="1"/>
          </p:cNvSpPr>
          <p:nvPr>
            <p:ph type="body" orient="vert" idx="1"/>
          </p:nvPr>
        </p:nvSpPr>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a:p>
        </p:txBody>
      </p:sp>
      <p:sp>
        <p:nvSpPr>
          <p:cNvPr id="4" name="מציין מיקום של תאריך 3">
            <a:extLst>
              <a:ext uri="{FF2B5EF4-FFF2-40B4-BE49-F238E27FC236}">
                <a16:creationId xmlns:a16="http://schemas.microsoft.com/office/drawing/2014/main" id="{8E85A9C9-9FB1-8009-4D97-2E15697934C3}"/>
              </a:ext>
            </a:extLst>
          </p:cNvPr>
          <p:cNvSpPr>
            <a:spLocks noGrp="1"/>
          </p:cNvSpPr>
          <p:nvPr>
            <p:ph type="dt" sz="half" idx="10"/>
          </p:nvPr>
        </p:nvSpPr>
        <p:spPr/>
        <p:txBody>
          <a:bodyPr/>
          <a:lstStyle/>
          <a:p>
            <a:fld id="{9562590C-F7CF-4EF4-9400-B7D3FF713867}" type="datetime1">
              <a:rPr lang="en-US" smtClean="0"/>
              <a:t>11/8/2025</a:t>
            </a:fld>
            <a:endParaRPr lang="en-US"/>
          </a:p>
        </p:txBody>
      </p:sp>
      <p:sp>
        <p:nvSpPr>
          <p:cNvPr id="5" name="מציין מיקום של כותרת תחתונה 4">
            <a:extLst>
              <a:ext uri="{FF2B5EF4-FFF2-40B4-BE49-F238E27FC236}">
                <a16:creationId xmlns:a16="http://schemas.microsoft.com/office/drawing/2014/main" id="{8A29542C-4A21-9DDC-5CC9-1A283FC87556}"/>
              </a:ext>
            </a:extLst>
          </p:cNvPr>
          <p:cNvSpPr>
            <a:spLocks noGrp="1"/>
          </p:cNvSpPr>
          <p:nvPr>
            <p:ph type="ftr" sz="quarter" idx="11"/>
          </p:nvPr>
        </p:nvSpPr>
        <p:spPr/>
        <p:txBody>
          <a:bodyPr/>
          <a:lstStyle/>
          <a:p>
            <a:endParaRPr lang="en-US"/>
          </a:p>
        </p:txBody>
      </p:sp>
      <p:sp>
        <p:nvSpPr>
          <p:cNvPr id="6" name="מציין מיקום של מספר שקופית 5">
            <a:extLst>
              <a:ext uri="{FF2B5EF4-FFF2-40B4-BE49-F238E27FC236}">
                <a16:creationId xmlns:a16="http://schemas.microsoft.com/office/drawing/2014/main" id="{2DF975A1-FAEB-45FB-1DE0-DBD90CC817CE}"/>
              </a:ext>
            </a:extLst>
          </p:cNvPr>
          <p:cNvSpPr>
            <a:spLocks noGrp="1"/>
          </p:cNvSpPr>
          <p:nvPr>
            <p:ph type="sldNum" sz="quarter" idx="12"/>
          </p:nvPr>
        </p:nvSpPr>
        <p:spPr/>
        <p:txBody>
          <a:bodyPr/>
          <a:lstStyle/>
          <a:p>
            <a:fld id="{E8857CA7-8CDB-4DCB-9E96-A9FC7D5F934F}" type="slidenum">
              <a:rPr lang="en-US" smtClean="0"/>
              <a:t>‹#›</a:t>
            </a:fld>
            <a:endParaRPr lang="en-US"/>
          </a:p>
        </p:txBody>
      </p:sp>
    </p:spTree>
    <p:extLst>
      <p:ext uri="{BB962C8B-B14F-4D97-AF65-F5344CB8AC3E}">
        <p14:creationId xmlns:p14="http://schemas.microsoft.com/office/powerpoint/2010/main" val="10346130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a:extLst>
              <a:ext uri="{FF2B5EF4-FFF2-40B4-BE49-F238E27FC236}">
                <a16:creationId xmlns:a16="http://schemas.microsoft.com/office/drawing/2014/main" id="{98BD848A-DB93-B8E6-2389-CA65E96FF6B4}"/>
              </a:ext>
            </a:extLst>
          </p:cNvPr>
          <p:cNvSpPr>
            <a:spLocks noGrp="1"/>
          </p:cNvSpPr>
          <p:nvPr>
            <p:ph type="title" orient="vert"/>
          </p:nvPr>
        </p:nvSpPr>
        <p:spPr>
          <a:xfrm>
            <a:off x="8724900" y="365125"/>
            <a:ext cx="2628900" cy="5811838"/>
          </a:xfrm>
        </p:spPr>
        <p:txBody>
          <a:bodyPr vert="eaVert"/>
          <a:lstStyle/>
          <a:p>
            <a:r>
              <a:rPr lang="he-IL"/>
              <a:t>לחץ כדי לערוך סגנון כותרת של תבנית בסיס</a:t>
            </a:r>
            <a:endParaRPr lang="en-US"/>
          </a:p>
        </p:txBody>
      </p:sp>
      <p:sp>
        <p:nvSpPr>
          <p:cNvPr id="3" name="מציין מיקום של טקסט אנכי 2">
            <a:extLst>
              <a:ext uri="{FF2B5EF4-FFF2-40B4-BE49-F238E27FC236}">
                <a16:creationId xmlns:a16="http://schemas.microsoft.com/office/drawing/2014/main" id="{22C9EF0E-AFC0-6465-41A4-2DC37AFD0FB2}"/>
              </a:ext>
            </a:extLst>
          </p:cNvPr>
          <p:cNvSpPr>
            <a:spLocks noGrp="1"/>
          </p:cNvSpPr>
          <p:nvPr>
            <p:ph type="body" orient="vert" idx="1"/>
          </p:nvPr>
        </p:nvSpPr>
        <p:spPr>
          <a:xfrm>
            <a:off x="838200" y="365125"/>
            <a:ext cx="7734300" cy="5811838"/>
          </a:xfrm>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a:p>
        </p:txBody>
      </p:sp>
      <p:sp>
        <p:nvSpPr>
          <p:cNvPr id="4" name="מציין מיקום של תאריך 3">
            <a:extLst>
              <a:ext uri="{FF2B5EF4-FFF2-40B4-BE49-F238E27FC236}">
                <a16:creationId xmlns:a16="http://schemas.microsoft.com/office/drawing/2014/main" id="{9106B026-7228-E31E-7315-9ED8B728FDED}"/>
              </a:ext>
            </a:extLst>
          </p:cNvPr>
          <p:cNvSpPr>
            <a:spLocks noGrp="1"/>
          </p:cNvSpPr>
          <p:nvPr>
            <p:ph type="dt" sz="half" idx="10"/>
          </p:nvPr>
        </p:nvSpPr>
        <p:spPr/>
        <p:txBody>
          <a:bodyPr/>
          <a:lstStyle/>
          <a:p>
            <a:fld id="{A8B367F1-C936-4080-ACEF-023299EA9D7D}" type="datetime1">
              <a:rPr lang="en-US" smtClean="0"/>
              <a:t>11/8/2025</a:t>
            </a:fld>
            <a:endParaRPr lang="en-US"/>
          </a:p>
        </p:txBody>
      </p:sp>
      <p:sp>
        <p:nvSpPr>
          <p:cNvPr id="5" name="מציין מיקום של כותרת תחתונה 4">
            <a:extLst>
              <a:ext uri="{FF2B5EF4-FFF2-40B4-BE49-F238E27FC236}">
                <a16:creationId xmlns:a16="http://schemas.microsoft.com/office/drawing/2014/main" id="{DC055F92-055A-FBC1-B1E6-AA8E61410034}"/>
              </a:ext>
            </a:extLst>
          </p:cNvPr>
          <p:cNvSpPr>
            <a:spLocks noGrp="1"/>
          </p:cNvSpPr>
          <p:nvPr>
            <p:ph type="ftr" sz="quarter" idx="11"/>
          </p:nvPr>
        </p:nvSpPr>
        <p:spPr/>
        <p:txBody>
          <a:bodyPr/>
          <a:lstStyle/>
          <a:p>
            <a:endParaRPr lang="en-US"/>
          </a:p>
        </p:txBody>
      </p:sp>
      <p:sp>
        <p:nvSpPr>
          <p:cNvPr id="6" name="מציין מיקום של מספר שקופית 5">
            <a:extLst>
              <a:ext uri="{FF2B5EF4-FFF2-40B4-BE49-F238E27FC236}">
                <a16:creationId xmlns:a16="http://schemas.microsoft.com/office/drawing/2014/main" id="{46D33D6E-289A-611A-FACA-7C6339D05555}"/>
              </a:ext>
            </a:extLst>
          </p:cNvPr>
          <p:cNvSpPr>
            <a:spLocks noGrp="1"/>
          </p:cNvSpPr>
          <p:nvPr>
            <p:ph type="sldNum" sz="quarter" idx="12"/>
          </p:nvPr>
        </p:nvSpPr>
        <p:spPr/>
        <p:txBody>
          <a:bodyPr/>
          <a:lstStyle/>
          <a:p>
            <a:fld id="{E8857CA7-8CDB-4DCB-9E96-A9FC7D5F934F}" type="slidenum">
              <a:rPr lang="en-US" smtClean="0"/>
              <a:t>‹#›</a:t>
            </a:fld>
            <a:endParaRPr lang="en-US"/>
          </a:p>
        </p:txBody>
      </p:sp>
    </p:spTree>
    <p:extLst>
      <p:ext uri="{BB962C8B-B14F-4D97-AF65-F5344CB8AC3E}">
        <p14:creationId xmlns:p14="http://schemas.microsoft.com/office/powerpoint/2010/main" val="8451871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1">
            <a:extLst>
              <a:ext uri="{FF2B5EF4-FFF2-40B4-BE49-F238E27FC236}">
                <a16:creationId xmlns:a16="http://schemas.microsoft.com/office/drawing/2014/main" id="{60F89185-4A5C-A8AB-E458-E2B3A89AA2BD}"/>
              </a:ext>
            </a:extLst>
          </p:cNvPr>
          <p:cNvSpPr>
            <a:spLocks noGrp="1"/>
          </p:cNvSpPr>
          <p:nvPr>
            <p:ph type="title"/>
          </p:nvPr>
        </p:nvSpPr>
        <p:spPr>
          <a:xfrm>
            <a:off x="838200" y="365125"/>
            <a:ext cx="10515600" cy="1325563"/>
          </a:xfrm>
          <a:prstGeom prst="rect">
            <a:avLst/>
          </a:prstGeom>
        </p:spPr>
        <p:txBody>
          <a:bodyPr vert="horz" lIns="91440" tIns="45720" rIns="91440" bIns="45720" rtlCol="1" anchor="ctr">
            <a:normAutofit/>
          </a:bodyPr>
          <a:lstStyle/>
          <a:p>
            <a:r>
              <a:rPr lang="he-IL"/>
              <a:t>לחץ כדי לערוך סגנון כותרת של תבנית בסיס</a:t>
            </a:r>
            <a:endParaRPr lang="en-US"/>
          </a:p>
        </p:txBody>
      </p:sp>
      <p:sp>
        <p:nvSpPr>
          <p:cNvPr id="3" name="מציין מיקום טקסט 2">
            <a:extLst>
              <a:ext uri="{FF2B5EF4-FFF2-40B4-BE49-F238E27FC236}">
                <a16:creationId xmlns:a16="http://schemas.microsoft.com/office/drawing/2014/main" id="{436A5DC7-3DF6-7FC5-4720-885582333703}"/>
              </a:ext>
            </a:extLst>
          </p:cNvPr>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a:p>
        </p:txBody>
      </p:sp>
      <p:sp>
        <p:nvSpPr>
          <p:cNvPr id="4" name="מציין מיקום של תאריך 3">
            <a:extLst>
              <a:ext uri="{FF2B5EF4-FFF2-40B4-BE49-F238E27FC236}">
                <a16:creationId xmlns:a16="http://schemas.microsoft.com/office/drawing/2014/main" id="{8E7B98D9-ED13-A9A8-6E8E-F8FCFD7CB0DA}"/>
              </a:ext>
            </a:extLst>
          </p:cNvPr>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l">
              <a:defRPr sz="1200">
                <a:solidFill>
                  <a:schemeClr val="tx1">
                    <a:tint val="82000"/>
                  </a:schemeClr>
                </a:solidFill>
              </a:defRPr>
            </a:lvl1pPr>
          </a:lstStyle>
          <a:p>
            <a:fld id="{FFBD5E5D-8EC4-4244-AE56-ADFBFE200161}" type="datetime1">
              <a:rPr lang="en-US" smtClean="0"/>
              <a:t>11/8/2025</a:t>
            </a:fld>
            <a:endParaRPr lang="en-US"/>
          </a:p>
        </p:txBody>
      </p:sp>
      <p:sp>
        <p:nvSpPr>
          <p:cNvPr id="5" name="מציין מיקום של כותרת תחתונה 4">
            <a:extLst>
              <a:ext uri="{FF2B5EF4-FFF2-40B4-BE49-F238E27FC236}">
                <a16:creationId xmlns:a16="http://schemas.microsoft.com/office/drawing/2014/main" id="{1D2DFDDE-7849-43B0-F030-E497621745B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82000"/>
                  </a:schemeClr>
                </a:solidFill>
              </a:defRPr>
            </a:lvl1pPr>
          </a:lstStyle>
          <a:p>
            <a:endParaRPr lang="en-US"/>
          </a:p>
        </p:txBody>
      </p:sp>
      <p:sp>
        <p:nvSpPr>
          <p:cNvPr id="6" name="מציין מיקום של מספר שקופית 5">
            <a:extLst>
              <a:ext uri="{FF2B5EF4-FFF2-40B4-BE49-F238E27FC236}">
                <a16:creationId xmlns:a16="http://schemas.microsoft.com/office/drawing/2014/main" id="{3C9DF11E-03A0-E1A8-3128-B12644C54F3A}"/>
              </a:ext>
            </a:extLst>
          </p:cNvPr>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r">
              <a:defRPr sz="1200">
                <a:solidFill>
                  <a:schemeClr val="tx1">
                    <a:tint val="82000"/>
                  </a:schemeClr>
                </a:solidFill>
              </a:defRPr>
            </a:lvl1pPr>
          </a:lstStyle>
          <a:p>
            <a:fld id="{E8857CA7-8CDB-4DCB-9E96-A9FC7D5F934F}" type="slidenum">
              <a:rPr lang="en-US" smtClean="0"/>
              <a:t>‹#›</a:t>
            </a:fld>
            <a:endParaRPr lang="en-US"/>
          </a:p>
        </p:txBody>
      </p:sp>
    </p:spTree>
    <p:extLst>
      <p:ext uri="{BB962C8B-B14F-4D97-AF65-F5344CB8AC3E}">
        <p14:creationId xmlns:p14="http://schemas.microsoft.com/office/powerpoint/2010/main" val="29488335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shchur/gnn-benchmark#dataset"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7">
            <a:extLst>
              <a:ext uri="{FF2B5EF4-FFF2-40B4-BE49-F238E27FC236}">
                <a16:creationId xmlns:a16="http://schemas.microsoft.com/office/drawing/2014/main" id="{8EEC504C-7736-71D9-8258-4947A7F61004}"/>
              </a:ext>
            </a:extLst>
          </p:cNvPr>
          <p:cNvPicPr>
            <a:picLocks noChangeAspect="1"/>
          </p:cNvPicPr>
          <p:nvPr/>
        </p:nvPicPr>
        <p:blipFill>
          <a:blip r:embed="rId2"/>
          <a:srcRect t="1108" r="-1" b="-1"/>
          <a:stretch/>
        </p:blipFill>
        <p:spPr>
          <a:xfrm>
            <a:off x="3523488" y="10"/>
            <a:ext cx="8668512" cy="6857990"/>
          </a:xfrm>
          <a:prstGeom prst="rect">
            <a:avLst/>
          </a:prstGeom>
        </p:spPr>
      </p:pic>
      <p:sp>
        <p:nvSpPr>
          <p:cNvPr id="14" name="Rectangle 13">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9339206" cy="6858000"/>
          </a:xfrm>
          <a:prstGeom prst="rect">
            <a:avLst/>
          </a:prstGeom>
          <a:gradFill>
            <a:gsLst>
              <a:gs pos="58000">
                <a:schemeClr val="tx1"/>
              </a:gs>
              <a:gs pos="33000">
                <a:schemeClr val="tx1">
                  <a:alpha val="64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כותרת 1">
            <a:extLst>
              <a:ext uri="{FF2B5EF4-FFF2-40B4-BE49-F238E27FC236}">
                <a16:creationId xmlns:a16="http://schemas.microsoft.com/office/drawing/2014/main" id="{9CE793DE-4EE2-E9A5-D380-48810089EE7B}"/>
              </a:ext>
            </a:extLst>
          </p:cNvPr>
          <p:cNvSpPr>
            <a:spLocks noGrp="1"/>
          </p:cNvSpPr>
          <p:nvPr>
            <p:ph type="ctrTitle"/>
          </p:nvPr>
        </p:nvSpPr>
        <p:spPr>
          <a:xfrm>
            <a:off x="331443" y="-234661"/>
            <a:ext cx="5764557" cy="3856388"/>
          </a:xfrm>
        </p:spPr>
        <p:txBody>
          <a:bodyPr anchor="b">
            <a:normAutofit/>
          </a:bodyPr>
          <a:lstStyle/>
          <a:p>
            <a:pPr algn="l"/>
            <a:r>
              <a:rPr lang="en-US" sz="4100" dirty="0">
                <a:solidFill>
                  <a:srgbClr val="FFFFFF"/>
                </a:solidFill>
                <a:latin typeface="Aptos Display"/>
                <a:cs typeface="Times New Roman" pitchFamily="18"/>
              </a:rPr>
              <a:t>Graph Embedding by Deep Generative Graph Adversarial Networks</a:t>
            </a:r>
          </a:p>
        </p:txBody>
      </p:sp>
      <p:sp>
        <p:nvSpPr>
          <p:cNvPr id="3" name="כותרת משנה 2">
            <a:extLst>
              <a:ext uri="{FF2B5EF4-FFF2-40B4-BE49-F238E27FC236}">
                <a16:creationId xmlns:a16="http://schemas.microsoft.com/office/drawing/2014/main" id="{EDFE16C1-2B9C-72E2-A1F6-31524F6606A0}"/>
              </a:ext>
            </a:extLst>
          </p:cNvPr>
          <p:cNvSpPr>
            <a:spLocks noGrp="1"/>
          </p:cNvSpPr>
          <p:nvPr>
            <p:ph type="subTitle" idx="1"/>
          </p:nvPr>
        </p:nvSpPr>
        <p:spPr>
          <a:xfrm>
            <a:off x="477980" y="4413738"/>
            <a:ext cx="5324943" cy="1942612"/>
          </a:xfrm>
        </p:spPr>
        <p:txBody>
          <a:bodyPr>
            <a:normAutofit fontScale="92500" lnSpcReduction="10000"/>
          </a:bodyPr>
          <a:lstStyle/>
          <a:p>
            <a:pPr algn="l"/>
            <a:r>
              <a:rPr lang="en-US" sz="1800" dirty="0">
                <a:solidFill>
                  <a:schemeClr val="bg1"/>
                </a:solidFill>
              </a:rPr>
              <a:t>Submitted by :</a:t>
            </a:r>
            <a:br>
              <a:rPr lang="en-US" sz="1800" dirty="0">
                <a:solidFill>
                  <a:schemeClr val="bg1"/>
                </a:solidFill>
              </a:rPr>
            </a:br>
            <a:r>
              <a:rPr lang="en-US" sz="1800" dirty="0">
                <a:solidFill>
                  <a:schemeClr val="bg1"/>
                </a:solidFill>
              </a:rPr>
              <a:t>Orel Damti 315838375</a:t>
            </a:r>
          </a:p>
          <a:p>
            <a:pPr algn="l"/>
            <a:endParaRPr lang="en-US" sz="1800" dirty="0">
              <a:solidFill>
                <a:schemeClr val="bg1"/>
              </a:solidFill>
            </a:endParaRPr>
          </a:p>
          <a:p>
            <a:pPr algn="l"/>
            <a:r>
              <a:rPr lang="en-US" sz="1800" dirty="0">
                <a:solidFill>
                  <a:schemeClr val="bg1"/>
                </a:solidFill>
              </a:rPr>
              <a:t>Supervisors:</a:t>
            </a:r>
          </a:p>
          <a:p>
            <a:pPr algn="l"/>
            <a:r>
              <a:rPr lang="en-US" sz="1800" dirty="0">
                <a:solidFill>
                  <a:schemeClr val="bg1"/>
                </a:solidFill>
              </a:rPr>
              <a:t>Prof. Zeev </a:t>
            </a:r>
            <a:r>
              <a:rPr lang="en-US" sz="1800" dirty="0" err="1">
                <a:solidFill>
                  <a:schemeClr val="bg1"/>
                </a:solidFill>
              </a:rPr>
              <a:t>Volkovich</a:t>
            </a:r>
            <a:endParaRPr lang="en-US" sz="1800" dirty="0">
              <a:solidFill>
                <a:schemeClr val="bg1"/>
              </a:solidFill>
            </a:endParaRPr>
          </a:p>
          <a:p>
            <a:pPr algn="l"/>
            <a:r>
              <a:rPr lang="en-US" sz="1800" dirty="0">
                <a:solidFill>
                  <a:schemeClr val="bg1"/>
                </a:solidFill>
              </a:rPr>
              <a:t>Dr. Dvora Toledano Kitai</a:t>
            </a:r>
          </a:p>
        </p:txBody>
      </p:sp>
      <p:sp>
        <p:nvSpPr>
          <p:cNvPr id="16" name="Rectangle 15">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8" name="Rectangle 17">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מציין מיקום של מספר שקופית 5">
            <a:extLst>
              <a:ext uri="{FF2B5EF4-FFF2-40B4-BE49-F238E27FC236}">
                <a16:creationId xmlns:a16="http://schemas.microsoft.com/office/drawing/2014/main" id="{E4052F60-4D0A-08CA-D7E4-888F3B18EAAF}"/>
              </a:ext>
            </a:extLst>
          </p:cNvPr>
          <p:cNvSpPr>
            <a:spLocks noGrp="1"/>
          </p:cNvSpPr>
          <p:nvPr>
            <p:ph type="sldNum" sz="quarter" idx="12"/>
          </p:nvPr>
        </p:nvSpPr>
        <p:spPr>
          <a:xfrm>
            <a:off x="8970819" y="6356350"/>
            <a:ext cx="2743200" cy="365125"/>
          </a:xfrm>
        </p:spPr>
        <p:txBody>
          <a:bodyPr>
            <a:normAutofit/>
          </a:bodyPr>
          <a:lstStyle/>
          <a:p>
            <a:pPr>
              <a:spcAft>
                <a:spcPts val="600"/>
              </a:spcAft>
            </a:pPr>
            <a:fld id="{E8857CA7-8CDB-4DCB-9E96-A9FC7D5F934F}" type="slidenum">
              <a:rPr lang="en-US">
                <a:solidFill>
                  <a:schemeClr val="bg1"/>
                </a:solidFill>
              </a:rPr>
              <a:pPr>
                <a:spcAft>
                  <a:spcPts val="600"/>
                </a:spcAft>
              </a:pPr>
              <a:t>1</a:t>
            </a:fld>
            <a:endParaRPr lang="en-US">
              <a:solidFill>
                <a:schemeClr val="bg1"/>
              </a:solidFill>
            </a:endParaRPr>
          </a:p>
        </p:txBody>
      </p:sp>
      <p:pic>
        <p:nvPicPr>
          <p:cNvPr id="4" name="Picture 2">
            <a:extLst>
              <a:ext uri="{FF2B5EF4-FFF2-40B4-BE49-F238E27FC236}">
                <a16:creationId xmlns:a16="http://schemas.microsoft.com/office/drawing/2014/main" id="{8E070486-23A5-9677-DF72-9A9A2D03379F}"/>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9705" b="91139" l="4582" r="93028">
                        <a14:foregroundMark x1="91036" y1="29114" x2="93127" y2="26582"/>
                        <a14:foregroundMark x1="81275" y1="85654" x2="82470" y2="85654"/>
                        <a14:foregroundMark x1="61853" y1="29114" x2="61653" y2="44304"/>
                        <a14:foregroundMark x1="58665" y1="31646" x2="58665" y2="40506"/>
                        <a14:foregroundMark x1="38446" y1="27426" x2="38446" y2="36287"/>
                        <a14:foregroundMark x1="27789" y1="51899" x2="28187" y2="48523"/>
                        <a14:foregroundMark x1="15438" y1="41350" x2="15040" y2="48523"/>
                        <a14:foregroundMark x1="11056" y1="49367" x2="11653" y2="66245"/>
                        <a14:foregroundMark x1="6076" y1="24473" x2="4582" y2="44304"/>
                        <a14:foregroundMark x1="6076" y1="79325" x2="6076" y2="79325"/>
                        <a14:foregroundMark x1="8566" y1="89451" x2="8566" y2="89451"/>
                        <a14:foregroundMark x1="11255" y1="81435" x2="11255" y2="81435"/>
                        <a14:foregroundMark x1="9960" y1="81435" x2="9960" y2="81435"/>
                        <a14:foregroundMark x1="13745" y1="83122" x2="13745" y2="83122"/>
                        <a14:foregroundMark x1="16235" y1="83122" x2="16235" y2="83122"/>
                        <a14:foregroundMark x1="18127" y1="85654" x2="18127" y2="85654"/>
                        <a14:foregroundMark x1="21713" y1="88186" x2="21713" y2="88186"/>
                        <a14:foregroundMark x1="24004" y1="79325" x2="24004" y2="79325"/>
                        <a14:foregroundMark x1="24004" y1="81435" x2="24004" y2="81435"/>
                        <a14:foregroundMark x1="27390" y1="84810" x2="27390" y2="84810"/>
                        <a14:foregroundMark x1="27988" y1="77637" x2="27988" y2="77637"/>
                        <a14:foregroundMark x1="30279" y1="83122" x2="30279" y2="83122"/>
                        <a14:foregroundMark x1="32371" y1="83122" x2="32371" y2="83122"/>
                        <a14:foregroundMark x1="34861" y1="83966" x2="34861" y2="83966"/>
                        <a14:foregroundMark x1="34861" y1="78481" x2="34861" y2="78481"/>
                        <a14:foregroundMark x1="36952" y1="83966" x2="36952" y2="83966"/>
                        <a14:foregroundMark x1="39641" y1="83122" x2="39641" y2="83122"/>
                        <a14:foregroundMark x1="41335" y1="83122" x2="41335" y2="83122"/>
                        <a14:foregroundMark x1="44522" y1="84810" x2="44522" y2="84810"/>
                        <a14:foregroundMark x1="46116" y1="83122" x2="46116" y2="83122"/>
                        <a14:foregroundMark x1="45916" y1="77637" x2="45916" y2="77637"/>
                        <a14:foregroundMark x1="47410" y1="85654" x2="47410" y2="85654"/>
                        <a14:foregroundMark x1="50100" y1="83122" x2="50100" y2="83122"/>
                        <a14:foregroundMark x1="51992" y1="91139" x2="51992" y2="91139"/>
                        <a14:foregroundMark x1="55378" y1="82278" x2="55378" y2="82278"/>
                        <a14:foregroundMark x1="55578" y1="84810" x2="55578" y2="84810"/>
                        <a14:foregroundMark x1="57470" y1="83122" x2="57470" y2="83122"/>
                        <a14:foregroundMark x1="60159" y1="82278" x2="60159" y2="82278"/>
                        <a14:foregroundMark x1="61853" y1="82278" x2="61853" y2="82278"/>
                        <a14:foregroundMark x1="65538" y1="85654" x2="65538" y2="85654"/>
                        <a14:foregroundMark x1="66036" y1="77637" x2="66036" y2="77637"/>
                        <a14:foregroundMark x1="68526" y1="82278" x2="68526" y2="82278"/>
                        <a14:foregroundMark x1="67629" y1="83966" x2="67629" y2="83966"/>
                        <a14:foregroundMark x1="69323" y1="80591" x2="69323" y2="80591"/>
                      </a14:backgroundRemoval>
                    </a14:imgEffect>
                  </a14:imgLayer>
                </a14:imgProps>
              </a:ext>
              <a:ext uri="{28A0092B-C50C-407E-A947-70E740481C1C}">
                <a14:useLocalDpi xmlns:a14="http://schemas.microsoft.com/office/drawing/2010/main" val="0"/>
              </a:ext>
            </a:extLst>
          </a:blip>
          <a:srcRect/>
          <a:stretch>
            <a:fillRect/>
          </a:stretch>
        </p:blipFill>
        <p:spPr bwMode="auto">
          <a:xfrm>
            <a:off x="1102928" y="69635"/>
            <a:ext cx="3017169" cy="7122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238579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4" name="Rectangle 13">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הפינים הוצמדו בשטח לבן וחיבור הליך משנה שחור">
            <a:extLst>
              <a:ext uri="{FF2B5EF4-FFF2-40B4-BE49-F238E27FC236}">
                <a16:creationId xmlns:a16="http://schemas.microsoft.com/office/drawing/2014/main" id="{47FEAED7-784F-E560-71F0-E0AF88E5354C}"/>
              </a:ext>
            </a:extLst>
          </p:cNvPr>
          <p:cNvPicPr>
            <a:picLocks noChangeAspect="1"/>
          </p:cNvPicPr>
          <p:nvPr/>
        </p:nvPicPr>
        <p:blipFill>
          <a:blip r:embed="rId2"/>
          <a:srcRect l="5341" r="35258" b="-2"/>
          <a:stretch/>
        </p:blipFill>
        <p:spPr>
          <a:xfrm>
            <a:off x="6096000" y="1"/>
            <a:ext cx="6102825" cy="6858000"/>
          </a:xfrm>
          <a:prstGeom prst="rect">
            <a:avLst/>
          </a:prstGeom>
        </p:spPr>
      </p:pic>
      <p:sp>
        <p:nvSpPr>
          <p:cNvPr id="6" name="מציין מיקום של מספר שקופית 5">
            <a:extLst>
              <a:ext uri="{FF2B5EF4-FFF2-40B4-BE49-F238E27FC236}">
                <a16:creationId xmlns:a16="http://schemas.microsoft.com/office/drawing/2014/main" id="{2B32B635-5C77-D8C1-F773-B4402EA68A72}"/>
              </a:ext>
            </a:extLst>
          </p:cNvPr>
          <p:cNvSpPr>
            <a:spLocks noGrp="1"/>
          </p:cNvSpPr>
          <p:nvPr>
            <p:ph type="sldNum" sz="quarter" idx="12"/>
          </p:nvPr>
        </p:nvSpPr>
        <p:spPr>
          <a:xfrm>
            <a:off x="8732520" y="6356350"/>
            <a:ext cx="3200400" cy="365125"/>
          </a:xfrm>
        </p:spPr>
        <p:txBody>
          <a:bodyPr>
            <a:normAutofit/>
          </a:bodyPr>
          <a:lstStyle/>
          <a:p>
            <a:pPr>
              <a:spcAft>
                <a:spcPts val="600"/>
              </a:spcAft>
            </a:pPr>
            <a:fld id="{E8857CA7-8CDB-4DCB-9E96-A9FC7D5F934F}" type="slidenum">
              <a:rPr lang="en-US">
                <a:solidFill>
                  <a:srgbClr val="FFFFFF"/>
                </a:solidFill>
              </a:rPr>
              <a:pPr>
                <a:spcAft>
                  <a:spcPts val="600"/>
                </a:spcAft>
              </a:pPr>
              <a:t>2</a:t>
            </a:fld>
            <a:endParaRPr lang="en-US">
              <a:solidFill>
                <a:srgbClr val="FFFFFF"/>
              </a:solidFill>
            </a:endParaRPr>
          </a:p>
        </p:txBody>
      </p:sp>
      <p:sp>
        <p:nvSpPr>
          <p:cNvPr id="10" name="כותרת 1">
            <a:extLst>
              <a:ext uri="{FF2B5EF4-FFF2-40B4-BE49-F238E27FC236}">
                <a16:creationId xmlns:a16="http://schemas.microsoft.com/office/drawing/2014/main" id="{0E19B55E-A9BA-8B7C-3A3D-D6F548ABAB13}"/>
              </a:ext>
            </a:extLst>
          </p:cNvPr>
          <p:cNvSpPr txBox="1">
            <a:spLocks/>
          </p:cNvSpPr>
          <p:nvPr/>
        </p:nvSpPr>
        <p:spPr>
          <a:xfrm>
            <a:off x="761804" y="350196"/>
            <a:ext cx="4646907" cy="1624523"/>
          </a:xfrm>
          <a:prstGeom prst="rect">
            <a:avLst/>
          </a:prstGeom>
        </p:spPr>
        <p:txBody>
          <a:bodyPr vert="horz" lIns="91440" tIns="45720" rIns="91440" bIns="45720" rtlCol="1" anchor="ctr">
            <a:normAutofit/>
          </a:bodyPr>
          <a:lstStyle>
            <a:lvl1pPr algn="r" defTabSz="914400" rtl="1" eaLnBrk="1" latinLnBrk="0" hangingPunct="1">
              <a:lnSpc>
                <a:spcPct val="90000"/>
              </a:lnSpc>
              <a:spcBef>
                <a:spcPct val="0"/>
              </a:spcBef>
              <a:buNone/>
              <a:defRPr sz="4400" kern="1200">
                <a:solidFill>
                  <a:schemeClr val="tx1"/>
                </a:solidFill>
                <a:latin typeface="+mj-lt"/>
                <a:ea typeface="+mj-ea"/>
                <a:cs typeface="+mj-cs"/>
              </a:defRPr>
            </a:lvl1pPr>
          </a:lstStyle>
          <a:p>
            <a:pPr algn="l" rtl="0"/>
            <a:r>
              <a:rPr lang="en-US"/>
              <a:t>The Project Goal </a:t>
            </a:r>
            <a:endParaRPr lang="en-US" dirty="0"/>
          </a:p>
        </p:txBody>
      </p:sp>
      <p:sp>
        <p:nvSpPr>
          <p:cNvPr id="15" name="מציין מיקום תוכן 2">
            <a:extLst>
              <a:ext uri="{FF2B5EF4-FFF2-40B4-BE49-F238E27FC236}">
                <a16:creationId xmlns:a16="http://schemas.microsoft.com/office/drawing/2014/main" id="{BD42B690-A363-D636-D56A-56C9724F6B08}"/>
              </a:ext>
            </a:extLst>
          </p:cNvPr>
          <p:cNvSpPr txBox="1">
            <a:spLocks/>
          </p:cNvSpPr>
          <p:nvPr/>
        </p:nvSpPr>
        <p:spPr>
          <a:xfrm>
            <a:off x="761804" y="2688445"/>
            <a:ext cx="4646907" cy="3613151"/>
          </a:xfrm>
          <a:prstGeom prst="rect">
            <a:avLst/>
          </a:prstGeom>
        </p:spPr>
        <p:txBody>
          <a:bodyPr vert="horz" lIns="91440" tIns="45720" rIns="91440" bIns="45720" rtlCol="1" anchor="ctr">
            <a:norm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39702" indent="0" algn="l" rtl="0">
              <a:spcBef>
                <a:spcPts val="0"/>
              </a:spcBef>
              <a:spcAft>
                <a:spcPts val="600"/>
              </a:spcAft>
              <a:buFont typeface="Arial" panose="020B0604020202020204" pitchFamily="34" charset="0"/>
              <a:buNone/>
            </a:pPr>
            <a:r>
              <a:rPr lang="en-US" sz="2000"/>
              <a:t>The project addresses the problem of predicting missing links in a directed graph using a GAN-based approach. The DGGAN (Directed Graph Generative Adversarial Network) model aims to achieve high-precision link prediction in citation networks by learning node relationships through adversarial training.</a:t>
            </a:r>
            <a:endParaRPr lang="en-US" sz="2000" dirty="0"/>
          </a:p>
        </p:txBody>
      </p:sp>
    </p:spTree>
    <p:extLst>
      <p:ext uri="{BB962C8B-B14F-4D97-AF65-F5344CB8AC3E}">
        <p14:creationId xmlns:p14="http://schemas.microsoft.com/office/powerpoint/2010/main" val="26565222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94EDE04C-DC88-ED81-8C5F-60DD44EF015E}"/>
              </a:ext>
            </a:extLst>
          </p:cNvPr>
          <p:cNvSpPr>
            <a:spLocks noGrp="1"/>
          </p:cNvSpPr>
          <p:nvPr>
            <p:ph type="title"/>
          </p:nvPr>
        </p:nvSpPr>
        <p:spPr>
          <a:xfrm>
            <a:off x="621792" y="1161288"/>
            <a:ext cx="3602736" cy="4526280"/>
          </a:xfrm>
        </p:spPr>
        <p:txBody>
          <a:bodyPr>
            <a:normAutofit/>
          </a:bodyPr>
          <a:lstStyle/>
          <a:p>
            <a:pPr rtl="0"/>
            <a:r>
              <a:rPr lang="en-US" sz="4000" dirty="0"/>
              <a:t>Tools &amp; Libraries</a:t>
            </a:r>
          </a:p>
        </p:txBody>
      </p:sp>
      <p:sp>
        <p:nvSpPr>
          <p:cNvPr id="4" name="מציין מיקום של מספר שקופית 3">
            <a:extLst>
              <a:ext uri="{FF2B5EF4-FFF2-40B4-BE49-F238E27FC236}">
                <a16:creationId xmlns:a16="http://schemas.microsoft.com/office/drawing/2014/main" id="{39C3DE59-A100-814A-8D31-302376DBAA51}"/>
              </a:ext>
            </a:extLst>
          </p:cNvPr>
          <p:cNvSpPr>
            <a:spLocks noGrp="1"/>
          </p:cNvSpPr>
          <p:nvPr>
            <p:ph type="sldNum" sz="quarter" idx="12"/>
          </p:nvPr>
        </p:nvSpPr>
        <p:spPr>
          <a:xfrm>
            <a:off x="8801100" y="6356350"/>
            <a:ext cx="2743200" cy="365125"/>
          </a:xfrm>
        </p:spPr>
        <p:txBody>
          <a:bodyPr>
            <a:normAutofit/>
          </a:bodyPr>
          <a:lstStyle/>
          <a:p>
            <a:pPr>
              <a:spcAft>
                <a:spcPts val="600"/>
              </a:spcAft>
            </a:pPr>
            <a:fld id="{E8857CA7-8CDB-4DCB-9E96-A9FC7D5F934F}" type="slidenum">
              <a:rPr lang="en-US">
                <a:solidFill>
                  <a:schemeClr val="tx1">
                    <a:lumMod val="50000"/>
                    <a:lumOff val="50000"/>
                  </a:schemeClr>
                </a:solidFill>
              </a:rPr>
              <a:pPr>
                <a:spcAft>
                  <a:spcPts val="600"/>
                </a:spcAft>
              </a:pPr>
              <a:t>3</a:t>
            </a:fld>
            <a:endParaRPr lang="en-US">
              <a:solidFill>
                <a:schemeClr val="tx1">
                  <a:lumMod val="50000"/>
                  <a:lumOff val="50000"/>
                </a:schemeClr>
              </a:solidFill>
            </a:endParaRPr>
          </a:p>
        </p:txBody>
      </p:sp>
      <p:graphicFrame>
        <p:nvGraphicFramePr>
          <p:cNvPr id="6" name="מציין מיקום תוכן 2">
            <a:extLst>
              <a:ext uri="{FF2B5EF4-FFF2-40B4-BE49-F238E27FC236}">
                <a16:creationId xmlns:a16="http://schemas.microsoft.com/office/drawing/2014/main" id="{49A2892F-E01F-9F79-E129-44A67EF3CD87}"/>
              </a:ext>
            </a:extLst>
          </p:cNvPr>
          <p:cNvGraphicFramePr>
            <a:graphicFrameLocks noGrp="1"/>
          </p:cNvGraphicFramePr>
          <p:nvPr>
            <p:ph idx="1"/>
          </p:nvPr>
        </p:nvGraphicFramePr>
        <p:xfrm>
          <a:off x="5303520" y="676656"/>
          <a:ext cx="6364224" cy="551383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4463186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FEE6A792-1BA4-A2C9-CEB2-BC675A110369}"/>
              </a:ext>
            </a:extLst>
          </p:cNvPr>
          <p:cNvSpPr txBox="1">
            <a:spLocks noGrp="1"/>
          </p:cNvSpPr>
          <p:nvPr>
            <p:ph type="title"/>
          </p:nvPr>
        </p:nvSpPr>
        <p:spPr>
          <a:xfrm>
            <a:off x="617311" y="253435"/>
            <a:ext cx="10057942" cy="916128"/>
          </a:xfrm>
        </p:spPr>
        <p:txBody>
          <a:bodyPr/>
          <a:lstStyle/>
          <a:p>
            <a:pPr lvl="0" algn="l" rtl="0"/>
            <a:r>
              <a:rPr lang="en-US" dirty="0"/>
              <a:t>Link Prediction</a:t>
            </a:r>
          </a:p>
        </p:txBody>
      </p:sp>
      <p:sp>
        <p:nvSpPr>
          <p:cNvPr id="3" name="מציין מיקום תוכן 2">
            <a:extLst>
              <a:ext uri="{FF2B5EF4-FFF2-40B4-BE49-F238E27FC236}">
                <a16:creationId xmlns:a16="http://schemas.microsoft.com/office/drawing/2014/main" id="{8FF26307-978D-7F75-3247-6FB4EE24D07B}"/>
              </a:ext>
            </a:extLst>
          </p:cNvPr>
          <p:cNvSpPr txBox="1">
            <a:spLocks noGrp="1"/>
          </p:cNvSpPr>
          <p:nvPr>
            <p:ph idx="1"/>
          </p:nvPr>
        </p:nvSpPr>
        <p:spPr>
          <a:xfrm>
            <a:off x="657508" y="1253331"/>
            <a:ext cx="10309814" cy="1309183"/>
          </a:xfrm>
        </p:spPr>
        <p:txBody>
          <a:bodyPr/>
          <a:lstStyle/>
          <a:p>
            <a:pPr lvl="0" algn="l" rtl="0"/>
            <a:r>
              <a:rPr lang="en-US" sz="2000" kern="0">
                <a:latin typeface="Fira Sans Condensed"/>
              </a:rPr>
              <a:t>Link prediction is the process of identifying potential connections or relationships between nodes in a network or graph.</a:t>
            </a:r>
            <a:br>
              <a:rPr lang="en-US" sz="2000" kern="0">
                <a:latin typeface="Fira Sans Condensed"/>
              </a:rPr>
            </a:br>
            <a:r>
              <a:rPr lang="en-US" sz="2000"/>
              <a:t>It is especially challenging in sparse or dynamic networks where traditional similarity-based methods often fail.</a:t>
            </a:r>
            <a:endParaRPr lang="en-US" sz="2000" kern="0">
              <a:latin typeface="Fira Sans Condensed"/>
            </a:endParaRPr>
          </a:p>
          <a:p>
            <a:pPr lvl="0" algn="l" rtl="0"/>
            <a:endParaRPr lang="en-US" sz="2000"/>
          </a:p>
        </p:txBody>
      </p:sp>
      <p:pic>
        <p:nvPicPr>
          <p:cNvPr id="4" name="תמונה 3">
            <a:extLst>
              <a:ext uri="{FF2B5EF4-FFF2-40B4-BE49-F238E27FC236}">
                <a16:creationId xmlns:a16="http://schemas.microsoft.com/office/drawing/2014/main" id="{8DF0DD55-62CB-E237-EA5A-100626FBC048}"/>
              </a:ext>
            </a:extLst>
          </p:cNvPr>
          <p:cNvPicPr>
            <a:picLocks noChangeAspect="1"/>
          </p:cNvPicPr>
          <p:nvPr/>
        </p:nvPicPr>
        <p:blipFill>
          <a:blip r:embed="rId2"/>
          <a:srcRect b="6951"/>
          <a:stretch>
            <a:fillRect/>
          </a:stretch>
        </p:blipFill>
        <p:spPr>
          <a:xfrm>
            <a:off x="2193371" y="2646282"/>
            <a:ext cx="7516633" cy="3532839"/>
          </a:xfrm>
          <a:prstGeom prst="rect">
            <a:avLst/>
          </a:prstGeom>
          <a:noFill/>
          <a:ln cap="flat">
            <a:noFill/>
          </a:ln>
          <a:effectLst>
            <a:outerShdw dir="16200000" algn="tl">
              <a:srgbClr val="000000">
                <a:alpha val="4000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13F02BE1-4F2D-9540-75D1-94E4694E763B}"/>
              </a:ext>
            </a:extLst>
          </p:cNvPr>
          <p:cNvSpPr txBox="1">
            <a:spLocks noGrp="1"/>
          </p:cNvSpPr>
          <p:nvPr>
            <p:ph type="title"/>
          </p:nvPr>
        </p:nvSpPr>
        <p:spPr>
          <a:xfrm>
            <a:off x="246851" y="43671"/>
            <a:ext cx="9827971" cy="762819"/>
          </a:xfrm>
        </p:spPr>
        <p:txBody>
          <a:bodyPr/>
          <a:lstStyle/>
          <a:p>
            <a:pPr lvl="0" algn="l" rtl="0"/>
            <a:r>
              <a:rPr lang="en-US"/>
              <a:t>Challenges</a:t>
            </a:r>
          </a:p>
        </p:txBody>
      </p:sp>
      <p:pic>
        <p:nvPicPr>
          <p:cNvPr id="3" name="Picture 4">
            <a:extLst>
              <a:ext uri="{FF2B5EF4-FFF2-40B4-BE49-F238E27FC236}">
                <a16:creationId xmlns:a16="http://schemas.microsoft.com/office/drawing/2014/main" id="{9E5A7EEF-3E5A-B934-28D7-C2F1DE695CE7}"/>
              </a:ext>
            </a:extLst>
          </p:cNvPr>
          <p:cNvPicPr>
            <a:picLocks noChangeAspect="1"/>
          </p:cNvPicPr>
          <p:nvPr/>
        </p:nvPicPr>
        <p:blipFill>
          <a:blip r:embed="rId2"/>
          <a:stretch>
            <a:fillRect/>
          </a:stretch>
        </p:blipFill>
        <p:spPr>
          <a:xfrm>
            <a:off x="1237603" y="839336"/>
            <a:ext cx="1759141" cy="4993245"/>
          </a:xfrm>
          <a:prstGeom prst="rect">
            <a:avLst/>
          </a:prstGeom>
          <a:noFill/>
          <a:ln cap="flat">
            <a:noFill/>
          </a:ln>
        </p:spPr>
      </p:pic>
      <p:sp>
        <p:nvSpPr>
          <p:cNvPr id="4" name="מציין מיקום תוכן 2">
            <a:extLst>
              <a:ext uri="{FF2B5EF4-FFF2-40B4-BE49-F238E27FC236}">
                <a16:creationId xmlns:a16="http://schemas.microsoft.com/office/drawing/2014/main" id="{D807953D-542D-92DA-6DE3-A56BA04B8E1E}"/>
              </a:ext>
            </a:extLst>
          </p:cNvPr>
          <p:cNvSpPr txBox="1"/>
          <p:nvPr/>
        </p:nvSpPr>
        <p:spPr>
          <a:xfrm>
            <a:off x="192097" y="5932352"/>
            <a:ext cx="4587974" cy="676509"/>
          </a:xfrm>
          <a:prstGeom prst="rect">
            <a:avLst/>
          </a:prstGeom>
          <a:noFill/>
          <a:ln cap="flat">
            <a:noFill/>
          </a:ln>
        </p:spPr>
        <p:txBody>
          <a:bodyPr vert="horz" wrap="square" lIns="91440" tIns="45720" rIns="91440" bIns="45720" anchor="t" anchorCtr="0" compatLnSpc="1">
            <a:normAutofit fontScale="92500"/>
          </a:bodyPr>
          <a:lstStyle/>
          <a:p>
            <a:pPr marL="228600" marR="0" lvl="0" indent="-228600" algn="l" defTabSz="914400" rtl="0" fontAlgn="auto" hangingPunct="1">
              <a:lnSpc>
                <a:spcPct val="90000"/>
              </a:lnSpc>
              <a:spcBef>
                <a:spcPts val="1000"/>
              </a:spcBef>
              <a:spcAft>
                <a:spcPts val="0"/>
              </a:spcAft>
              <a:buSzPct val="100000"/>
              <a:buFont typeface="Arial" pitchFamily="34"/>
              <a:buChar char="•"/>
              <a:tabLst/>
              <a:defRPr sz="1800" b="0" i="0" u="none" strike="noStrike" kern="0" cap="none" spc="0" baseline="0">
                <a:solidFill>
                  <a:srgbClr val="000000"/>
                </a:solidFill>
                <a:uFillTx/>
              </a:defRPr>
            </a:pPr>
            <a:r>
              <a:rPr lang="en-US" sz="2000" b="0" i="0" u="none" strike="noStrike" kern="0" cap="none" spc="0" baseline="0">
                <a:solidFill>
                  <a:srgbClr val="000000"/>
                </a:solidFill>
                <a:uFillTx/>
                <a:latin typeface="Aptos Display"/>
                <a:cs typeface="Arial"/>
              </a:rPr>
              <a:t>Challenge A: Data Sparsity: 12 nodes, only 4 edges</a:t>
            </a:r>
            <a:r>
              <a:rPr lang="he-IL" sz="2000" b="0" i="0" u="none" strike="noStrike" kern="0" cap="none" spc="0" baseline="0">
                <a:solidFill>
                  <a:srgbClr val="000000"/>
                </a:solidFill>
                <a:uFillTx/>
                <a:latin typeface="Aptos Display"/>
                <a:cs typeface="Arial"/>
              </a:rPr>
              <a:t>, </a:t>
            </a:r>
            <a:r>
              <a:rPr lang="en-US" sz="2000" b="0" i="0" u="none" strike="noStrike" kern="0" cap="none" spc="0" baseline="0">
                <a:solidFill>
                  <a:srgbClr val="000000"/>
                </a:solidFill>
                <a:uFillTx/>
                <a:latin typeface="Aptos Display"/>
                <a:cs typeface="Arial"/>
              </a:rPr>
              <a:t>Sparse connectivity: 2.8% density</a:t>
            </a:r>
          </a:p>
        </p:txBody>
      </p:sp>
      <p:pic>
        <p:nvPicPr>
          <p:cNvPr id="5" name="Picture 11">
            <a:extLst>
              <a:ext uri="{FF2B5EF4-FFF2-40B4-BE49-F238E27FC236}">
                <a16:creationId xmlns:a16="http://schemas.microsoft.com/office/drawing/2014/main" id="{D27CE891-E938-ECF2-CC9D-C49402A12F25}"/>
              </a:ext>
            </a:extLst>
          </p:cNvPr>
          <p:cNvPicPr>
            <a:picLocks noChangeAspect="1"/>
          </p:cNvPicPr>
          <p:nvPr/>
        </p:nvPicPr>
        <p:blipFill>
          <a:blip r:embed="rId3"/>
          <a:stretch>
            <a:fillRect/>
          </a:stretch>
        </p:blipFill>
        <p:spPr>
          <a:xfrm>
            <a:off x="7887248" y="839336"/>
            <a:ext cx="2685199" cy="4993245"/>
          </a:xfrm>
          <a:prstGeom prst="rect">
            <a:avLst/>
          </a:prstGeom>
          <a:noFill/>
          <a:ln cap="flat">
            <a:noFill/>
          </a:ln>
        </p:spPr>
      </p:pic>
      <p:sp>
        <p:nvSpPr>
          <p:cNvPr id="6" name="מציין מיקום תוכן 2">
            <a:extLst>
              <a:ext uri="{FF2B5EF4-FFF2-40B4-BE49-F238E27FC236}">
                <a16:creationId xmlns:a16="http://schemas.microsoft.com/office/drawing/2014/main" id="{8FD564F7-A194-C598-9010-FEC4D6D3DDBC}"/>
              </a:ext>
            </a:extLst>
          </p:cNvPr>
          <p:cNvSpPr txBox="1"/>
          <p:nvPr/>
        </p:nvSpPr>
        <p:spPr>
          <a:xfrm>
            <a:off x="6849331" y="6062462"/>
            <a:ext cx="4587974" cy="376668"/>
          </a:xfrm>
          <a:prstGeom prst="rect">
            <a:avLst/>
          </a:prstGeom>
          <a:noFill/>
          <a:ln cap="flat">
            <a:noFill/>
          </a:ln>
        </p:spPr>
        <p:txBody>
          <a:bodyPr vert="horz" wrap="square" lIns="91440" tIns="45720" rIns="91440" bIns="45720" anchor="t" anchorCtr="0" compatLnSpc="1">
            <a:normAutofit/>
          </a:bodyPr>
          <a:lstStyle/>
          <a:p>
            <a:pPr marL="228600" marR="0" lvl="0" indent="-228600" algn="l" defTabSz="914400" rtl="0" fontAlgn="auto" hangingPunct="1">
              <a:lnSpc>
                <a:spcPct val="90000"/>
              </a:lnSpc>
              <a:spcBef>
                <a:spcPts val="1000"/>
              </a:spcBef>
              <a:spcAft>
                <a:spcPts val="0"/>
              </a:spcAft>
              <a:buSzPct val="100000"/>
              <a:buFont typeface="Arial" pitchFamily="34"/>
              <a:buChar char="•"/>
              <a:tabLst/>
              <a:defRPr sz="1800" b="0" i="0" u="none" strike="noStrike" kern="0" cap="none" spc="0" baseline="0">
                <a:solidFill>
                  <a:srgbClr val="000000"/>
                </a:solidFill>
                <a:uFillTx/>
              </a:defRPr>
            </a:pPr>
            <a:r>
              <a:rPr lang="en-US" sz="2000" b="0" i="0" u="none" strike="noStrike" kern="0" cap="none" spc="0" baseline="0">
                <a:solidFill>
                  <a:srgbClr val="000000"/>
                </a:solidFill>
                <a:uFillTx/>
                <a:latin typeface="Aptos Display"/>
                <a:cs typeface="Arial"/>
              </a:rPr>
              <a:t>Challenge B: Low In/Outdegree Nodes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5">
            <a:extLst>
              <a:ext uri="{FF2B5EF4-FFF2-40B4-BE49-F238E27FC236}">
                <a16:creationId xmlns:a16="http://schemas.microsoft.com/office/drawing/2014/main" id="{9CB620B9-FC7C-3413-8A9B-2AEA0AB3FE68}"/>
              </a:ext>
            </a:extLst>
          </p:cNvPr>
          <p:cNvPicPr>
            <a:picLocks noChangeAspect="1"/>
          </p:cNvPicPr>
          <p:nvPr/>
        </p:nvPicPr>
        <p:blipFill>
          <a:blip r:embed="rId2"/>
          <a:stretch>
            <a:fillRect/>
          </a:stretch>
        </p:blipFill>
        <p:spPr>
          <a:xfrm>
            <a:off x="91778" y="740792"/>
            <a:ext cx="11918097" cy="2422126"/>
          </a:xfrm>
          <a:prstGeom prst="rect">
            <a:avLst/>
          </a:prstGeom>
          <a:noFill/>
          <a:ln cap="flat">
            <a:noFill/>
          </a:ln>
        </p:spPr>
      </p:pic>
      <p:sp>
        <p:nvSpPr>
          <p:cNvPr id="3" name="כותרת 1">
            <a:extLst>
              <a:ext uri="{FF2B5EF4-FFF2-40B4-BE49-F238E27FC236}">
                <a16:creationId xmlns:a16="http://schemas.microsoft.com/office/drawing/2014/main" id="{9D5F3A49-0573-CDA5-45C5-997B33612889}"/>
              </a:ext>
            </a:extLst>
          </p:cNvPr>
          <p:cNvSpPr txBox="1">
            <a:spLocks noGrp="1"/>
          </p:cNvSpPr>
          <p:nvPr>
            <p:ph type="title"/>
          </p:nvPr>
        </p:nvSpPr>
        <p:spPr>
          <a:xfrm>
            <a:off x="246851" y="43671"/>
            <a:ext cx="9827971" cy="762819"/>
          </a:xfrm>
        </p:spPr>
        <p:txBody>
          <a:bodyPr/>
          <a:lstStyle/>
          <a:p>
            <a:pPr lvl="0" algn="l" rtl="0"/>
            <a:r>
              <a:rPr lang="en-US"/>
              <a:t>Challenges - 2</a:t>
            </a:r>
          </a:p>
        </p:txBody>
      </p:sp>
      <p:sp>
        <p:nvSpPr>
          <p:cNvPr id="4" name="מציין מיקום תוכן 2">
            <a:extLst>
              <a:ext uri="{FF2B5EF4-FFF2-40B4-BE49-F238E27FC236}">
                <a16:creationId xmlns:a16="http://schemas.microsoft.com/office/drawing/2014/main" id="{8CE4A0C4-2A35-6B4C-E536-D279141A9C35}"/>
              </a:ext>
            </a:extLst>
          </p:cNvPr>
          <p:cNvSpPr txBox="1"/>
          <p:nvPr/>
        </p:nvSpPr>
        <p:spPr>
          <a:xfrm>
            <a:off x="3652579" y="6235705"/>
            <a:ext cx="5863745" cy="693471"/>
          </a:xfrm>
          <a:prstGeom prst="rect">
            <a:avLst/>
          </a:prstGeom>
          <a:noFill/>
          <a:ln cap="flat">
            <a:noFill/>
          </a:ln>
        </p:spPr>
        <p:txBody>
          <a:bodyPr vert="horz" wrap="square" lIns="91440" tIns="45720" rIns="91440" bIns="45720" anchor="t" anchorCtr="0" compatLnSpc="1">
            <a:normAutofit/>
          </a:bodyPr>
          <a:lstStyle/>
          <a:p>
            <a:pPr marL="0" marR="0" lvl="0" indent="0" algn="l" defTabSz="914400" rtl="0" fontAlgn="auto" hangingPunct="1">
              <a:lnSpc>
                <a:spcPct val="90000"/>
              </a:lnSpc>
              <a:spcBef>
                <a:spcPts val="1000"/>
              </a:spcBef>
              <a:spcAft>
                <a:spcPts val="0"/>
              </a:spcAft>
              <a:buNone/>
              <a:tabLst/>
              <a:defRPr sz="1800" b="0" i="0" u="none" strike="noStrike" kern="0" cap="none" spc="0" baseline="0">
                <a:solidFill>
                  <a:srgbClr val="000000"/>
                </a:solidFill>
                <a:uFillTx/>
              </a:defRPr>
            </a:pPr>
            <a:r>
              <a:rPr lang="en-US" sz="1900" b="0" i="0" u="none" strike="noStrike" kern="0" cap="none" spc="0" baseline="0">
                <a:solidFill>
                  <a:srgbClr val="000000"/>
                </a:solidFill>
                <a:uFillTx/>
                <a:latin typeface="Aptos Display"/>
                <a:cs typeface="Arial"/>
              </a:rPr>
              <a:t>Challenge D: Scalability, Processing large-scale networks efficiently</a:t>
            </a:r>
          </a:p>
        </p:txBody>
      </p:sp>
      <p:pic>
        <p:nvPicPr>
          <p:cNvPr id="5" name="Picture 11">
            <a:extLst>
              <a:ext uri="{FF2B5EF4-FFF2-40B4-BE49-F238E27FC236}">
                <a16:creationId xmlns:a16="http://schemas.microsoft.com/office/drawing/2014/main" id="{12909C78-CF58-1308-E933-A7B858917DDF}"/>
              </a:ext>
            </a:extLst>
          </p:cNvPr>
          <p:cNvPicPr>
            <a:picLocks noChangeAspect="1"/>
          </p:cNvPicPr>
          <p:nvPr/>
        </p:nvPicPr>
        <p:blipFill>
          <a:blip r:embed="rId3"/>
          <a:stretch>
            <a:fillRect/>
          </a:stretch>
        </p:blipFill>
        <p:spPr>
          <a:xfrm>
            <a:off x="140534" y="3737070"/>
            <a:ext cx="11801420" cy="2422766"/>
          </a:xfrm>
          <a:prstGeom prst="rect">
            <a:avLst/>
          </a:prstGeom>
          <a:noFill/>
          <a:ln cap="flat">
            <a:noFill/>
          </a:ln>
        </p:spPr>
      </p:pic>
      <p:sp>
        <p:nvSpPr>
          <p:cNvPr id="6" name="מציין מיקום תוכן 2">
            <a:extLst>
              <a:ext uri="{FF2B5EF4-FFF2-40B4-BE49-F238E27FC236}">
                <a16:creationId xmlns:a16="http://schemas.microsoft.com/office/drawing/2014/main" id="{84D5EB97-4575-E1CE-44E6-ABE854BBFA1A}"/>
              </a:ext>
            </a:extLst>
          </p:cNvPr>
          <p:cNvSpPr txBox="1"/>
          <p:nvPr/>
        </p:nvSpPr>
        <p:spPr>
          <a:xfrm>
            <a:off x="3854260" y="3163970"/>
            <a:ext cx="5863745" cy="693471"/>
          </a:xfrm>
          <a:prstGeom prst="rect">
            <a:avLst/>
          </a:prstGeom>
          <a:noFill/>
          <a:ln cap="flat">
            <a:noFill/>
          </a:ln>
        </p:spPr>
        <p:txBody>
          <a:bodyPr vert="horz" wrap="square" lIns="91440" tIns="45720" rIns="91440" bIns="45720" anchor="t" anchorCtr="0" compatLnSpc="1">
            <a:normAutofit/>
          </a:bodyPr>
          <a:lstStyle/>
          <a:p>
            <a:pPr marL="0" marR="0" lvl="0" indent="0" algn="l" defTabSz="914400" rtl="0" fontAlgn="auto" hangingPunct="1">
              <a:lnSpc>
                <a:spcPct val="90000"/>
              </a:lnSpc>
              <a:spcBef>
                <a:spcPts val="1000"/>
              </a:spcBef>
              <a:spcAft>
                <a:spcPts val="0"/>
              </a:spcAft>
              <a:buNone/>
              <a:tabLst/>
              <a:defRPr sz="1800" b="0" i="0" u="none" strike="noStrike" kern="0" cap="none" spc="0" baseline="0">
                <a:solidFill>
                  <a:srgbClr val="000000"/>
                </a:solidFill>
                <a:uFillTx/>
              </a:defRPr>
            </a:pPr>
            <a:r>
              <a:rPr lang="en-US" sz="1900" b="0" i="0" u="none" strike="noStrike" kern="0" cap="none" spc="0" baseline="0">
                <a:solidFill>
                  <a:srgbClr val="000000"/>
                </a:solidFill>
                <a:uFillTx/>
                <a:latin typeface="Aptos Display"/>
                <a:cs typeface="Arial"/>
              </a:rPr>
              <a:t>Challenge C: Directionality, Asymmetric relationships require separate source &amp; target roles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545754BD-090F-F947-E4BE-E405D50C0FE0}"/>
              </a:ext>
            </a:extLst>
          </p:cNvPr>
          <p:cNvSpPr txBox="1">
            <a:spLocks noGrp="1"/>
          </p:cNvSpPr>
          <p:nvPr>
            <p:ph type="title"/>
          </p:nvPr>
        </p:nvSpPr>
        <p:spPr>
          <a:xfrm>
            <a:off x="657508" y="200866"/>
            <a:ext cx="10134596" cy="910650"/>
          </a:xfrm>
        </p:spPr>
        <p:txBody>
          <a:bodyPr/>
          <a:lstStyle/>
          <a:p>
            <a:pPr lvl="0" algn="l" rtl="0"/>
            <a:r>
              <a:rPr lang="en-US"/>
              <a:t>Graph Embedding</a:t>
            </a:r>
          </a:p>
        </p:txBody>
      </p:sp>
      <p:sp>
        <p:nvSpPr>
          <p:cNvPr id="3" name="מציין מיקום תוכן 2">
            <a:extLst>
              <a:ext uri="{FF2B5EF4-FFF2-40B4-BE49-F238E27FC236}">
                <a16:creationId xmlns:a16="http://schemas.microsoft.com/office/drawing/2014/main" id="{F381F9D6-E816-CDB3-0FE6-8BEFD3CBD2FD}"/>
              </a:ext>
            </a:extLst>
          </p:cNvPr>
          <p:cNvSpPr txBox="1">
            <a:spLocks noGrp="1"/>
          </p:cNvSpPr>
          <p:nvPr>
            <p:ph idx="1"/>
          </p:nvPr>
        </p:nvSpPr>
        <p:spPr>
          <a:xfrm>
            <a:off x="707699" y="1253331"/>
            <a:ext cx="9963951" cy="910650"/>
          </a:xfrm>
        </p:spPr>
        <p:txBody>
          <a:bodyPr/>
          <a:lstStyle/>
          <a:p>
            <a:pPr lvl="0" algn="l" rtl="0"/>
            <a:r>
              <a:rPr lang="en-US" sz="2000" kern="0"/>
              <a:t>Graph embedding is the process of mapping graph nodes into a low-dimensional vector space, allowing for an analysis of the graph structure in an efficient manner.</a:t>
            </a:r>
            <a:endParaRPr lang="en-US" sz="2000"/>
          </a:p>
        </p:txBody>
      </p:sp>
      <p:pic>
        <p:nvPicPr>
          <p:cNvPr id="4" name="תמונה 3">
            <a:extLst>
              <a:ext uri="{FF2B5EF4-FFF2-40B4-BE49-F238E27FC236}">
                <a16:creationId xmlns:a16="http://schemas.microsoft.com/office/drawing/2014/main" id="{0BA36DF5-D80F-B3C6-F91B-4D23F0AA606E}"/>
              </a:ext>
            </a:extLst>
          </p:cNvPr>
          <p:cNvPicPr>
            <a:picLocks noChangeAspect="1"/>
          </p:cNvPicPr>
          <p:nvPr/>
        </p:nvPicPr>
        <p:blipFill>
          <a:blip r:embed="rId2"/>
          <a:stretch>
            <a:fillRect/>
          </a:stretch>
        </p:blipFill>
        <p:spPr>
          <a:xfrm>
            <a:off x="2115427" y="2212079"/>
            <a:ext cx="7961141" cy="4132831"/>
          </a:xfrm>
          <a:prstGeom prst="rect">
            <a:avLst/>
          </a:prstGeom>
          <a:noFill/>
          <a:ln cap="flat">
            <a:noFill/>
          </a:ln>
          <a:effectLst>
            <a:outerShdw dir="16200000" algn="tl">
              <a:srgbClr val="000000">
                <a:alpha val="40000"/>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C5017CBB-05C0-6AFA-E672-7E5B217E1346}"/>
              </a:ext>
            </a:extLst>
          </p:cNvPr>
          <p:cNvSpPr txBox="1">
            <a:spLocks noGrp="1"/>
          </p:cNvSpPr>
          <p:nvPr>
            <p:ph type="title"/>
          </p:nvPr>
        </p:nvSpPr>
        <p:spPr>
          <a:xfrm>
            <a:off x="487768" y="154917"/>
            <a:ext cx="10057942" cy="861373"/>
          </a:xfrm>
        </p:spPr>
        <p:txBody>
          <a:bodyPr/>
          <a:lstStyle/>
          <a:p>
            <a:pPr lvl="0" algn="l" rtl="0"/>
            <a:r>
              <a:rPr lang="en-US"/>
              <a:t>Generative Adversarial Network (GAN)</a:t>
            </a:r>
          </a:p>
        </p:txBody>
      </p:sp>
      <p:sp>
        <p:nvSpPr>
          <p:cNvPr id="3" name="מציין מיקום תוכן 2">
            <a:extLst>
              <a:ext uri="{FF2B5EF4-FFF2-40B4-BE49-F238E27FC236}">
                <a16:creationId xmlns:a16="http://schemas.microsoft.com/office/drawing/2014/main" id="{E24E0147-BD62-83D4-650B-1DA08AEC2480}"/>
              </a:ext>
            </a:extLst>
          </p:cNvPr>
          <p:cNvSpPr txBox="1">
            <a:spLocks noGrp="1"/>
          </p:cNvSpPr>
          <p:nvPr>
            <p:ph idx="1"/>
          </p:nvPr>
        </p:nvSpPr>
        <p:spPr>
          <a:xfrm>
            <a:off x="433014" y="1016300"/>
            <a:ext cx="10824511" cy="2000670"/>
          </a:xfrm>
        </p:spPr>
        <p:txBody>
          <a:bodyPr/>
          <a:lstStyle/>
          <a:p>
            <a:pPr marL="139702" lvl="0" indent="0" algn="l" rtl="0">
              <a:lnSpc>
                <a:spcPct val="100000"/>
              </a:lnSpc>
              <a:spcBef>
                <a:spcPts val="0"/>
              </a:spcBef>
              <a:buNone/>
            </a:pPr>
            <a:r>
              <a:rPr lang="en-US" sz="2000" kern="0"/>
              <a:t>A GAN is a machine learning model that uses two neural networks to create synthetic data similar to actual data.</a:t>
            </a:r>
          </a:p>
          <a:p>
            <a:pPr marL="139702" lvl="0" indent="0" algn="l" rtl="0">
              <a:lnSpc>
                <a:spcPct val="100000"/>
              </a:lnSpc>
              <a:spcBef>
                <a:spcPts val="0"/>
              </a:spcBef>
              <a:buNone/>
            </a:pPr>
            <a:r>
              <a:rPr lang="en-US" sz="2000" kern="0"/>
              <a:t>GANs can be used to generate realistic images, audio, and text.</a:t>
            </a:r>
            <a:br>
              <a:rPr lang="en-US" sz="2000" kern="0"/>
            </a:br>
            <a:r>
              <a:rPr lang="en-US" sz="2000"/>
              <a:t>A GAN consists of a generator and a discriminator competing in a game: the generator creates synthetic data (e.g., potential links), and the discriminator tries to distinguish between real and synthetic data. In this project, GAN is adapted for graph data to generate realistic citation links.</a:t>
            </a:r>
            <a:endParaRPr lang="en-US" sz="2000" kern="0"/>
          </a:p>
          <a:p>
            <a:pPr lvl="0" algn="l" rtl="0"/>
            <a:endParaRPr lang="en-US" sz="2000"/>
          </a:p>
        </p:txBody>
      </p:sp>
      <p:pic>
        <p:nvPicPr>
          <p:cNvPr id="4" name="Picture 3">
            <a:extLst>
              <a:ext uri="{FF2B5EF4-FFF2-40B4-BE49-F238E27FC236}">
                <a16:creationId xmlns:a16="http://schemas.microsoft.com/office/drawing/2014/main" id="{F2DFBC0D-EA2F-D449-EBDB-C5E2F95BFFE4}"/>
              </a:ext>
            </a:extLst>
          </p:cNvPr>
          <p:cNvPicPr>
            <a:picLocks noChangeAspect="1"/>
          </p:cNvPicPr>
          <p:nvPr/>
        </p:nvPicPr>
        <p:blipFill>
          <a:blip r:embed="rId2"/>
          <a:stretch>
            <a:fillRect/>
          </a:stretch>
        </p:blipFill>
        <p:spPr>
          <a:xfrm>
            <a:off x="2396496" y="3090516"/>
            <a:ext cx="7306001" cy="3314169"/>
          </a:xfrm>
          <a:prstGeom prst="rect">
            <a:avLst/>
          </a:prstGeom>
          <a:noFill/>
          <a:ln cap="flat">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30A85494-A83C-BFE9-AD70-88C853B19899}"/>
              </a:ext>
            </a:extLst>
          </p:cNvPr>
          <p:cNvSpPr>
            <a:spLocks noGrp="1"/>
          </p:cNvSpPr>
          <p:nvPr>
            <p:ph type="title"/>
          </p:nvPr>
        </p:nvSpPr>
        <p:spPr/>
        <p:txBody>
          <a:bodyPr/>
          <a:lstStyle/>
          <a:p>
            <a:pPr algn="l" rtl="0"/>
            <a:r>
              <a:rPr lang="en-US" dirty="0"/>
              <a:t>DGGAN Architecture</a:t>
            </a:r>
          </a:p>
        </p:txBody>
      </p:sp>
      <p:pic>
        <p:nvPicPr>
          <p:cNvPr id="4" name="תמונה 3">
            <a:extLst>
              <a:ext uri="{FF2B5EF4-FFF2-40B4-BE49-F238E27FC236}">
                <a16:creationId xmlns:a16="http://schemas.microsoft.com/office/drawing/2014/main" id="{EF41A06E-AC30-D2A7-86F8-4A9B7EE85F1F}"/>
              </a:ext>
            </a:extLst>
          </p:cNvPr>
          <p:cNvPicPr>
            <a:picLocks noChangeAspect="1"/>
          </p:cNvPicPr>
          <p:nvPr/>
        </p:nvPicPr>
        <p:blipFill rotWithShape="1">
          <a:blip r:embed="rId2">
            <a:extLst>
              <a:ext uri="{28A0092B-C50C-407E-A947-70E740481C1C}">
                <a14:useLocalDpi xmlns:a14="http://schemas.microsoft.com/office/drawing/2010/main" val="0"/>
              </a:ext>
            </a:extLst>
          </a:blip>
          <a:srcRect l="3920"/>
          <a:stretch/>
        </p:blipFill>
        <p:spPr bwMode="auto">
          <a:xfrm>
            <a:off x="838200" y="1690688"/>
            <a:ext cx="10923715" cy="4823956"/>
          </a:xfrm>
          <a:prstGeom prst="rect">
            <a:avLst/>
          </a:prstGeom>
          <a:ln>
            <a:noFill/>
          </a:ln>
          <a:effectLst>
            <a:outerShdw blurRad="63500" sx="102000" sy="102000" algn="ctr" rotWithShape="0">
              <a:prstClr val="black">
                <a:alpha val="40000"/>
              </a:prstClr>
            </a:outerShdw>
          </a:effectLst>
          <a:extLst>
            <a:ext uri="{53640926-AAD7-44D8-BBD7-CCE9431645EC}">
              <a14:shadowObscured xmlns:a14="http://schemas.microsoft.com/office/drawing/2010/main"/>
            </a:ext>
          </a:extLst>
        </p:spPr>
      </p:pic>
      <p:sp>
        <p:nvSpPr>
          <p:cNvPr id="7" name="מציין מיקום של מספר שקופית 6">
            <a:extLst>
              <a:ext uri="{FF2B5EF4-FFF2-40B4-BE49-F238E27FC236}">
                <a16:creationId xmlns:a16="http://schemas.microsoft.com/office/drawing/2014/main" id="{4F2B2DB6-AA74-B9DD-9F95-59C1E7EDD270}"/>
              </a:ext>
            </a:extLst>
          </p:cNvPr>
          <p:cNvSpPr>
            <a:spLocks noGrp="1"/>
          </p:cNvSpPr>
          <p:nvPr>
            <p:ph type="sldNum" sz="quarter" idx="12"/>
          </p:nvPr>
        </p:nvSpPr>
        <p:spPr/>
        <p:txBody>
          <a:bodyPr/>
          <a:lstStyle/>
          <a:p>
            <a:fld id="{E8857CA7-8CDB-4DCB-9E96-A9FC7D5F934F}" type="slidenum">
              <a:rPr lang="en-US" smtClean="0"/>
              <a:t>9</a:t>
            </a:fld>
            <a:endParaRPr lang="en-US"/>
          </a:p>
        </p:txBody>
      </p:sp>
    </p:spTree>
    <p:extLst>
      <p:ext uri="{BB962C8B-B14F-4D97-AF65-F5344CB8AC3E}">
        <p14:creationId xmlns:p14="http://schemas.microsoft.com/office/powerpoint/2010/main" val="25794987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5">
            <a:extLst>
              <a:ext uri="{FF2B5EF4-FFF2-40B4-BE49-F238E27FC236}">
                <a16:creationId xmlns:a16="http://schemas.microsoft.com/office/drawing/2014/main" id="{78B0D832-BE3B-10FC-9324-BF62366CAC87}"/>
              </a:ext>
            </a:extLst>
          </p:cNvPr>
          <p:cNvPicPr>
            <a:picLocks noChangeAspect="1"/>
          </p:cNvPicPr>
          <p:nvPr/>
        </p:nvPicPr>
        <p:blipFill>
          <a:blip r:embed="rId2"/>
          <a:stretch>
            <a:fillRect/>
          </a:stretch>
        </p:blipFill>
        <p:spPr>
          <a:xfrm>
            <a:off x="4624239" y="811658"/>
            <a:ext cx="2943517" cy="5909822"/>
          </a:xfrm>
          <a:prstGeom prst="rect">
            <a:avLst/>
          </a:prstGeom>
          <a:noFill/>
          <a:ln cap="flat">
            <a:noFill/>
          </a:ln>
        </p:spPr>
      </p:pic>
      <p:sp>
        <p:nvSpPr>
          <p:cNvPr id="3" name="כותרת 1">
            <a:extLst>
              <a:ext uri="{FF2B5EF4-FFF2-40B4-BE49-F238E27FC236}">
                <a16:creationId xmlns:a16="http://schemas.microsoft.com/office/drawing/2014/main" id="{15AA2F5C-02C2-D5E3-E148-FD7A8B628F2C}"/>
              </a:ext>
            </a:extLst>
          </p:cNvPr>
          <p:cNvSpPr txBox="1">
            <a:spLocks noGrp="1"/>
          </p:cNvSpPr>
          <p:nvPr>
            <p:ph type="title"/>
          </p:nvPr>
        </p:nvSpPr>
        <p:spPr>
          <a:xfrm>
            <a:off x="267333" y="81774"/>
            <a:ext cx="9528240" cy="788468"/>
          </a:xfrm>
        </p:spPr>
        <p:txBody>
          <a:bodyPr/>
          <a:lstStyle/>
          <a:p>
            <a:pPr lvl="0" algn="l" rtl="0"/>
            <a:r>
              <a:rPr lang="en-US"/>
              <a:t>Generator Architecture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6E45382E-1896-2D93-8F0F-CBDFDA712BC8}"/>
              </a:ext>
            </a:extLst>
          </p:cNvPr>
          <p:cNvSpPr txBox="1">
            <a:spLocks noGrp="1"/>
          </p:cNvSpPr>
          <p:nvPr>
            <p:ph type="sldNum" sz="quarter" idx="8"/>
          </p:nvPr>
        </p:nvSpPr>
        <p:spPr>
          <a:xfrm>
            <a:off x="838203" y="6356351"/>
            <a:ext cx="2743200" cy="365129"/>
          </a:xfrm>
          <a:prstGeom prst="rect">
            <a:avLst/>
          </a:prstGeom>
          <a:noFill/>
          <a:ln>
            <a:noFill/>
          </a:ln>
        </p:spPr>
        <p:txBody>
          <a:bodyPr vert="horz" wrap="square" lIns="91440" tIns="45720" rIns="91440" bIns="45720" anchor="ctr" anchorCtr="0" compatLnSpc="1">
            <a:noAutofit/>
          </a:bodyPr>
          <a:lstStyle>
            <a:defPPr>
              <a:defRPr lang="en-US"/>
            </a:defPPr>
            <a:lvl1pPr marL="0" marR="0" lvl="0" indent="0" algn="r" defTabSz="914400" rtl="1" eaLnBrk="1" fontAlgn="auto" latinLnBrk="0" hangingPunct="1">
              <a:lnSpc>
                <a:spcPct val="100000"/>
              </a:lnSpc>
              <a:spcBef>
                <a:spcPts val="0"/>
              </a:spcBef>
              <a:spcAft>
                <a:spcPts val="0"/>
              </a:spcAft>
              <a:buNone/>
              <a:tabLst/>
              <a:defRPr lang="en-US" sz="1200" b="0" i="0" u="none" strike="noStrike" kern="1200" cap="none" spc="0" baseline="0">
                <a:solidFill>
                  <a:srgbClr val="767676"/>
                </a:solidFill>
                <a:uFillTx/>
                <a:latin typeface="Aptos"/>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a:lstStyle>
          <a:p>
            <a:pPr lvl="0"/>
            <a:fld id="{57ABC609-7509-4A01-9BBD-408978320E33}" type="slidenum">
              <a:rPr lang="en-US" smtClean="0"/>
              <a:pPr lvl="0"/>
              <a:t>11</a:t>
            </a:fld>
            <a:endParaRPr lang="en-US"/>
          </a:p>
        </p:txBody>
      </p:sp>
      <p:pic>
        <p:nvPicPr>
          <p:cNvPr id="3" name="Picture 5">
            <a:extLst>
              <a:ext uri="{FF2B5EF4-FFF2-40B4-BE49-F238E27FC236}">
                <a16:creationId xmlns:a16="http://schemas.microsoft.com/office/drawing/2014/main" id="{75F23CDD-A88E-CEF5-362A-FC39C9B9587B}"/>
              </a:ext>
            </a:extLst>
          </p:cNvPr>
          <p:cNvPicPr>
            <a:picLocks noChangeAspect="1"/>
          </p:cNvPicPr>
          <p:nvPr/>
        </p:nvPicPr>
        <p:blipFill>
          <a:blip r:embed="rId2"/>
          <a:stretch>
            <a:fillRect/>
          </a:stretch>
        </p:blipFill>
        <p:spPr>
          <a:xfrm>
            <a:off x="2209803" y="993587"/>
            <a:ext cx="7834359" cy="5545323"/>
          </a:xfrm>
          <a:prstGeom prst="rect">
            <a:avLst/>
          </a:prstGeom>
          <a:noFill/>
          <a:ln cap="flat">
            <a:noFill/>
          </a:ln>
        </p:spPr>
      </p:pic>
      <p:sp>
        <p:nvSpPr>
          <p:cNvPr id="4" name="כותרת 1">
            <a:extLst>
              <a:ext uri="{FF2B5EF4-FFF2-40B4-BE49-F238E27FC236}">
                <a16:creationId xmlns:a16="http://schemas.microsoft.com/office/drawing/2014/main" id="{76774076-57B9-A474-AB80-1CAF6D605407}"/>
              </a:ext>
            </a:extLst>
          </p:cNvPr>
          <p:cNvSpPr txBox="1">
            <a:spLocks noGrp="1"/>
          </p:cNvSpPr>
          <p:nvPr>
            <p:ph type="title"/>
          </p:nvPr>
        </p:nvSpPr>
        <p:spPr>
          <a:xfrm>
            <a:off x="272811" y="136529"/>
            <a:ext cx="9528240" cy="788468"/>
          </a:xfrm>
        </p:spPr>
        <p:txBody>
          <a:bodyPr/>
          <a:lstStyle/>
          <a:p>
            <a:pPr lvl="0" algn="l" rtl="0"/>
            <a:r>
              <a:rPr lang="en-US"/>
              <a:t>Discriminator Architecture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BBFDA8F9-C2EB-20F0-948F-BC44463269D6}"/>
              </a:ext>
            </a:extLst>
          </p:cNvPr>
          <p:cNvSpPr txBox="1">
            <a:spLocks noGrp="1"/>
          </p:cNvSpPr>
          <p:nvPr>
            <p:ph type="sldNum" sz="quarter" idx="8"/>
          </p:nvPr>
        </p:nvSpPr>
        <p:spPr>
          <a:xfrm>
            <a:off x="838203" y="6356351"/>
            <a:ext cx="2743200" cy="365129"/>
          </a:xfrm>
          <a:prstGeom prst="rect">
            <a:avLst/>
          </a:prstGeom>
          <a:noFill/>
          <a:ln>
            <a:noFill/>
          </a:ln>
        </p:spPr>
        <p:txBody>
          <a:bodyPr vert="horz" wrap="square" lIns="91440" tIns="45720" rIns="91440" bIns="45720" anchor="ctr" anchorCtr="0" compatLnSpc="1">
            <a:noAutofit/>
          </a:bodyPr>
          <a:lstStyle>
            <a:defPPr>
              <a:defRPr lang="en-US"/>
            </a:defPPr>
            <a:lvl1pPr marL="0" marR="0" lvl="0" indent="0" algn="r" defTabSz="914400" rtl="1" eaLnBrk="1" fontAlgn="auto" latinLnBrk="0" hangingPunct="1">
              <a:lnSpc>
                <a:spcPct val="100000"/>
              </a:lnSpc>
              <a:spcBef>
                <a:spcPts val="0"/>
              </a:spcBef>
              <a:spcAft>
                <a:spcPts val="0"/>
              </a:spcAft>
              <a:buNone/>
              <a:tabLst/>
              <a:defRPr lang="en-US" sz="1200" b="0" i="0" u="none" strike="noStrike" kern="1200" cap="none" spc="0" baseline="0">
                <a:solidFill>
                  <a:srgbClr val="767676"/>
                </a:solidFill>
                <a:uFillTx/>
                <a:latin typeface="Aptos"/>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a:lstStyle>
          <a:p>
            <a:pPr lvl="0"/>
            <a:fld id="{57ABC609-7509-4A01-9BBD-408978320E33}" type="slidenum">
              <a:rPr lang="en-US" smtClean="0"/>
              <a:pPr lvl="0"/>
              <a:t>12</a:t>
            </a:fld>
            <a:endParaRPr lang="en-US"/>
          </a:p>
        </p:txBody>
      </p:sp>
      <p:sp>
        <p:nvSpPr>
          <p:cNvPr id="3" name="כותרת 1">
            <a:extLst>
              <a:ext uri="{FF2B5EF4-FFF2-40B4-BE49-F238E27FC236}">
                <a16:creationId xmlns:a16="http://schemas.microsoft.com/office/drawing/2014/main" id="{5CE45CCB-4C33-E098-BB65-A21192F8ED05}"/>
              </a:ext>
            </a:extLst>
          </p:cNvPr>
          <p:cNvSpPr txBox="1">
            <a:spLocks noGrp="1"/>
          </p:cNvSpPr>
          <p:nvPr>
            <p:ph type="title"/>
          </p:nvPr>
        </p:nvSpPr>
        <p:spPr>
          <a:xfrm>
            <a:off x="105393" y="136529"/>
            <a:ext cx="2270948" cy="746388"/>
          </a:xfrm>
        </p:spPr>
        <p:txBody>
          <a:bodyPr/>
          <a:lstStyle/>
          <a:p>
            <a:pPr lvl="0" algn="l" rtl="0"/>
            <a:r>
              <a:rPr lang="en-US"/>
              <a:t>Dataset</a:t>
            </a:r>
          </a:p>
        </p:txBody>
      </p:sp>
      <p:sp>
        <p:nvSpPr>
          <p:cNvPr id="4" name="מציין מיקום תוכן 2">
            <a:extLst>
              <a:ext uri="{FF2B5EF4-FFF2-40B4-BE49-F238E27FC236}">
                <a16:creationId xmlns:a16="http://schemas.microsoft.com/office/drawing/2014/main" id="{BDF096B9-0022-9D4A-2A28-2E8F2F732DE1}"/>
              </a:ext>
            </a:extLst>
          </p:cNvPr>
          <p:cNvSpPr txBox="1">
            <a:spLocks noGrp="1"/>
          </p:cNvSpPr>
          <p:nvPr>
            <p:ph idx="1"/>
          </p:nvPr>
        </p:nvSpPr>
        <p:spPr>
          <a:xfrm>
            <a:off x="105393" y="925354"/>
            <a:ext cx="11978914" cy="5724939"/>
          </a:xfrm>
        </p:spPr>
        <p:txBody>
          <a:bodyPr>
            <a:normAutofit/>
          </a:bodyPr>
          <a:lstStyle/>
          <a:p>
            <a:pPr marL="0" lvl="0" indent="0" algn="l" rtl="0">
              <a:buNone/>
            </a:pPr>
            <a:r>
              <a:rPr lang="en-US" sz="2000" kern="0" dirty="0"/>
              <a:t>The CORA-Full dataset is used for the node classification task.</a:t>
            </a:r>
          </a:p>
          <a:p>
            <a:pPr marL="0" lvl="0" indent="0" algn="l" rtl="0">
              <a:buNone/>
            </a:pPr>
            <a:r>
              <a:rPr lang="en-US" sz="2000" kern="0" dirty="0"/>
              <a:t>It is an extended version of the original Cora Dataset, where:</a:t>
            </a:r>
          </a:p>
          <a:p>
            <a:pPr lvl="0" algn="l" rtl="0"/>
            <a:r>
              <a:rPr lang="en-US" sz="2000" kern="0" dirty="0"/>
              <a:t>Nodes represent academic papers</a:t>
            </a:r>
          </a:p>
          <a:p>
            <a:pPr lvl="0" algn="l" rtl="0"/>
            <a:r>
              <a:rPr lang="en-US" sz="2000" kern="0" dirty="0"/>
              <a:t>Edges represent citation relationships between papers.</a:t>
            </a:r>
          </a:p>
          <a:p>
            <a:pPr marL="0" lvl="0" indent="0" algn="l" rtl="0">
              <a:buNone/>
            </a:pPr>
            <a:r>
              <a:rPr lang="en-US" sz="2000" kern="0" dirty="0"/>
              <a:t>Reference: </a:t>
            </a:r>
            <a:r>
              <a:rPr lang="en-US" sz="2000" kern="0" dirty="0">
                <a:hlinkClick r:id="rId3">
                  <a:extLst>
                    <a:ext uri="{A12FA001-AC4F-418D-AE19-62706E023703}">
                      <ahyp:hlinkClr xmlns:ahyp="http://schemas.microsoft.com/office/drawing/2018/hyperlinkcolor" val="tx"/>
                    </a:ext>
                  </a:extLst>
                </a:hlinkClick>
              </a:rPr>
              <a:t>https://github.com/shchur/gnn-benchmark#dataset</a:t>
            </a:r>
            <a:endParaRPr lang="en-US" sz="2000" kern="0" dirty="0"/>
          </a:p>
          <a:p>
            <a:pPr marL="0" lvl="0" indent="0" algn="l" rtl="0">
              <a:buNone/>
            </a:pPr>
            <a:endParaRPr lang="en-US" sz="2000" kern="0" dirty="0"/>
          </a:p>
          <a:p>
            <a:pPr marL="0" lvl="0" indent="0" algn="l" rtl="0">
              <a:buNone/>
            </a:pPr>
            <a:endParaRPr lang="en-US" sz="2000" kern="0" dirty="0"/>
          </a:p>
          <a:p>
            <a:pPr marL="0" lvl="0" indent="0" algn="l" rtl="0">
              <a:buNone/>
            </a:pPr>
            <a:r>
              <a:rPr lang="en-US" sz="2000" kern="0" dirty="0"/>
              <a:t>Dataset Statistics:</a:t>
            </a:r>
          </a:p>
          <a:p>
            <a:pPr lvl="0" algn="l" rtl="0"/>
            <a:r>
              <a:rPr lang="en-US" sz="2000" kern="0" dirty="0"/>
              <a:t>Number of nodes: 19,793</a:t>
            </a:r>
          </a:p>
          <a:p>
            <a:pPr lvl="0" algn="l" rtl="0"/>
            <a:r>
              <a:rPr lang="en-US" sz="2000" kern="0" dirty="0"/>
              <a:t>Number of edges: 126,842*</a:t>
            </a:r>
          </a:p>
          <a:p>
            <a:pPr marL="0" lvl="0" indent="0" algn="l" rtl="0">
              <a:buNone/>
            </a:pPr>
            <a:endParaRPr lang="en-US" sz="2000" kern="0" dirty="0"/>
          </a:p>
          <a:p>
            <a:pPr marL="0" lvl="0" indent="0" algn="l" rtl="0">
              <a:buNone/>
            </a:pPr>
            <a:r>
              <a:rPr lang="en-US" sz="2000" kern="0" dirty="0"/>
              <a:t>* The original dataset contains 65,311 edges.  However, when using DGL (Deep Graph Library), reverse edges are automatically added and duplicate edges are removed, resulting in a different total edge count.</a:t>
            </a:r>
          </a:p>
          <a:p>
            <a:pPr marL="0" lvl="0" indent="0" algn="l" rtl="0">
              <a:buNone/>
            </a:pPr>
            <a:endParaRPr lang="en-US" sz="2000" kern="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1404C8E0-9CA1-7730-42E8-CCA1EA25ED23}"/>
              </a:ext>
            </a:extLst>
          </p:cNvPr>
          <p:cNvSpPr txBox="1">
            <a:spLocks noGrp="1"/>
          </p:cNvSpPr>
          <p:nvPr>
            <p:ph type="title"/>
          </p:nvPr>
        </p:nvSpPr>
        <p:spPr>
          <a:xfrm>
            <a:off x="229898" y="250143"/>
            <a:ext cx="9330235" cy="746388"/>
          </a:xfrm>
        </p:spPr>
        <p:txBody>
          <a:bodyPr/>
          <a:lstStyle/>
          <a:p>
            <a:pPr lvl="0" algn="l" rtl="0"/>
            <a:r>
              <a:rPr lang="en-US"/>
              <a:t>Edge Training Procedure</a:t>
            </a:r>
          </a:p>
        </p:txBody>
      </p:sp>
      <p:pic>
        <p:nvPicPr>
          <p:cNvPr id="3" name="Picture 3">
            <a:extLst>
              <a:ext uri="{FF2B5EF4-FFF2-40B4-BE49-F238E27FC236}">
                <a16:creationId xmlns:a16="http://schemas.microsoft.com/office/drawing/2014/main" id="{6E5DD919-A645-E825-0394-95DD87B401AA}"/>
              </a:ext>
            </a:extLst>
          </p:cNvPr>
          <p:cNvPicPr>
            <a:picLocks noChangeAspect="1"/>
          </p:cNvPicPr>
          <p:nvPr/>
        </p:nvPicPr>
        <p:blipFill>
          <a:blip r:embed="rId2"/>
          <a:stretch>
            <a:fillRect/>
          </a:stretch>
        </p:blipFill>
        <p:spPr>
          <a:xfrm>
            <a:off x="245452" y="2228758"/>
            <a:ext cx="11701101" cy="3043763"/>
          </a:xfrm>
          <a:prstGeom prst="rect">
            <a:avLst/>
          </a:prstGeom>
          <a:noFill/>
          <a:ln cap="flat">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BAD0AF3-D948-BF90-43AD-06F89038CF34}"/>
              </a:ext>
            </a:extLst>
          </p:cNvPr>
          <p:cNvSpPr>
            <a:spLocks noGrp="1"/>
          </p:cNvSpPr>
          <p:nvPr>
            <p:ph type="sldNum" sz="quarter" idx="12"/>
          </p:nvPr>
        </p:nvSpPr>
        <p:spPr/>
        <p:txBody>
          <a:bodyPr/>
          <a:lstStyle/>
          <a:p>
            <a:fld id="{E8857CA7-8CDB-4DCB-9E96-A9FC7D5F934F}" type="slidenum">
              <a:rPr lang="en-US" smtClean="0"/>
              <a:t>14</a:t>
            </a:fld>
            <a:endParaRPr lang="en-US"/>
          </a:p>
        </p:txBody>
      </p:sp>
      <p:sp>
        <p:nvSpPr>
          <p:cNvPr id="5" name="כותרת 1">
            <a:extLst>
              <a:ext uri="{FF2B5EF4-FFF2-40B4-BE49-F238E27FC236}">
                <a16:creationId xmlns:a16="http://schemas.microsoft.com/office/drawing/2014/main" id="{8F665D69-59AC-F1C6-7C35-86249E58F6B3}"/>
              </a:ext>
            </a:extLst>
          </p:cNvPr>
          <p:cNvSpPr>
            <a:spLocks noGrp="1"/>
          </p:cNvSpPr>
          <p:nvPr>
            <p:ph type="title"/>
          </p:nvPr>
        </p:nvSpPr>
        <p:spPr>
          <a:xfrm>
            <a:off x="191573" y="136525"/>
            <a:ext cx="9330232" cy="746391"/>
          </a:xfrm>
        </p:spPr>
        <p:txBody>
          <a:bodyPr/>
          <a:lstStyle/>
          <a:p>
            <a:pPr algn="l" rtl="0"/>
            <a:r>
              <a:rPr lang="en-US" dirty="0"/>
              <a:t>Hyperparameters</a:t>
            </a:r>
          </a:p>
        </p:txBody>
      </p:sp>
      <p:sp>
        <p:nvSpPr>
          <p:cNvPr id="7" name="TextBox 6">
            <a:extLst>
              <a:ext uri="{FF2B5EF4-FFF2-40B4-BE49-F238E27FC236}">
                <a16:creationId xmlns:a16="http://schemas.microsoft.com/office/drawing/2014/main" id="{8B0CB767-3715-715A-5123-9D5289110960}"/>
              </a:ext>
            </a:extLst>
          </p:cNvPr>
          <p:cNvSpPr txBox="1"/>
          <p:nvPr/>
        </p:nvSpPr>
        <p:spPr>
          <a:xfrm>
            <a:off x="286094" y="1545107"/>
            <a:ext cx="5205782" cy="369332"/>
          </a:xfrm>
          <a:prstGeom prst="rect">
            <a:avLst/>
          </a:prstGeom>
          <a:noFill/>
        </p:spPr>
        <p:txBody>
          <a:bodyPr wrap="square">
            <a:spAutoFit/>
          </a:bodyPr>
          <a:lstStyle/>
          <a:p>
            <a:pPr algn="l" rtl="0"/>
            <a:r>
              <a:rPr lang="en-US" dirty="0" err="1"/>
              <a:t>g_batch_size</a:t>
            </a:r>
            <a:r>
              <a:rPr lang="en-US" dirty="0"/>
              <a:t> = 128 - Generator batch size </a:t>
            </a:r>
            <a:endParaRPr lang="en-IL" dirty="0"/>
          </a:p>
        </p:txBody>
      </p:sp>
      <p:sp>
        <p:nvSpPr>
          <p:cNvPr id="8" name="TextBox 7">
            <a:extLst>
              <a:ext uri="{FF2B5EF4-FFF2-40B4-BE49-F238E27FC236}">
                <a16:creationId xmlns:a16="http://schemas.microsoft.com/office/drawing/2014/main" id="{E033C736-24DC-5FF4-8B48-6467224438C5}"/>
              </a:ext>
            </a:extLst>
          </p:cNvPr>
          <p:cNvSpPr txBox="1"/>
          <p:nvPr/>
        </p:nvSpPr>
        <p:spPr>
          <a:xfrm>
            <a:off x="286094" y="2042460"/>
            <a:ext cx="5205782" cy="369332"/>
          </a:xfrm>
          <a:prstGeom prst="rect">
            <a:avLst/>
          </a:prstGeom>
          <a:noFill/>
        </p:spPr>
        <p:txBody>
          <a:bodyPr wrap="square">
            <a:spAutoFit/>
          </a:bodyPr>
          <a:lstStyle/>
          <a:p>
            <a:pPr algn="l" rtl="0"/>
            <a:r>
              <a:rPr lang="en-US" dirty="0" err="1"/>
              <a:t>d_batch_size</a:t>
            </a:r>
            <a:r>
              <a:rPr lang="en-US" dirty="0"/>
              <a:t> = 128 - Discriminator batch size </a:t>
            </a:r>
            <a:endParaRPr lang="en-IL" dirty="0"/>
          </a:p>
        </p:txBody>
      </p:sp>
      <p:sp>
        <p:nvSpPr>
          <p:cNvPr id="9" name="TextBox 8">
            <a:extLst>
              <a:ext uri="{FF2B5EF4-FFF2-40B4-BE49-F238E27FC236}">
                <a16:creationId xmlns:a16="http://schemas.microsoft.com/office/drawing/2014/main" id="{00C65E41-92ED-1A5C-CEF0-56D90134CB74}"/>
              </a:ext>
            </a:extLst>
          </p:cNvPr>
          <p:cNvSpPr txBox="1"/>
          <p:nvPr/>
        </p:nvSpPr>
        <p:spPr>
          <a:xfrm>
            <a:off x="286094" y="3185916"/>
            <a:ext cx="5205782" cy="369332"/>
          </a:xfrm>
          <a:prstGeom prst="rect">
            <a:avLst/>
          </a:prstGeom>
          <a:noFill/>
        </p:spPr>
        <p:txBody>
          <a:bodyPr wrap="square">
            <a:spAutoFit/>
          </a:bodyPr>
          <a:lstStyle/>
          <a:p>
            <a:pPr algn="l" rtl="0"/>
            <a:r>
              <a:rPr lang="en-US" dirty="0" err="1"/>
              <a:t>lr_gen</a:t>
            </a:r>
            <a:r>
              <a:rPr lang="en-US" dirty="0"/>
              <a:t> = 1e-4 - Generator learning rate</a:t>
            </a:r>
            <a:endParaRPr lang="en-IL" dirty="0"/>
          </a:p>
        </p:txBody>
      </p:sp>
      <p:sp>
        <p:nvSpPr>
          <p:cNvPr id="10" name="TextBox 9">
            <a:extLst>
              <a:ext uri="{FF2B5EF4-FFF2-40B4-BE49-F238E27FC236}">
                <a16:creationId xmlns:a16="http://schemas.microsoft.com/office/drawing/2014/main" id="{F138234B-95F2-0166-C624-DDFC5F4974FE}"/>
              </a:ext>
            </a:extLst>
          </p:cNvPr>
          <p:cNvSpPr txBox="1"/>
          <p:nvPr/>
        </p:nvSpPr>
        <p:spPr>
          <a:xfrm>
            <a:off x="286094" y="3683269"/>
            <a:ext cx="5205782" cy="369332"/>
          </a:xfrm>
          <a:prstGeom prst="rect">
            <a:avLst/>
          </a:prstGeom>
          <a:noFill/>
        </p:spPr>
        <p:txBody>
          <a:bodyPr wrap="square">
            <a:spAutoFit/>
          </a:bodyPr>
          <a:lstStyle/>
          <a:p>
            <a:pPr algn="l" rtl="0"/>
            <a:r>
              <a:rPr lang="en-US" dirty="0" err="1"/>
              <a:t>lr_dis</a:t>
            </a:r>
            <a:r>
              <a:rPr lang="en-US" dirty="0"/>
              <a:t> = 1e-4 - Discriminator learning rate</a:t>
            </a:r>
            <a:endParaRPr lang="en-IL" dirty="0"/>
          </a:p>
        </p:txBody>
      </p:sp>
      <p:sp>
        <p:nvSpPr>
          <p:cNvPr id="12" name="TextBox 11">
            <a:extLst>
              <a:ext uri="{FF2B5EF4-FFF2-40B4-BE49-F238E27FC236}">
                <a16:creationId xmlns:a16="http://schemas.microsoft.com/office/drawing/2014/main" id="{B4C96BBF-F160-6B8E-636F-733099A08AE4}"/>
              </a:ext>
            </a:extLst>
          </p:cNvPr>
          <p:cNvSpPr txBox="1"/>
          <p:nvPr/>
        </p:nvSpPr>
        <p:spPr>
          <a:xfrm>
            <a:off x="-200534" y="1067514"/>
            <a:ext cx="6124288" cy="395173"/>
          </a:xfrm>
          <a:prstGeom prst="rect">
            <a:avLst/>
          </a:prstGeom>
          <a:noFill/>
        </p:spPr>
        <p:txBody>
          <a:bodyPr wrap="square">
            <a:spAutoFit/>
          </a:bodyPr>
          <a:lstStyle/>
          <a:p>
            <a:pPr marL="485775" algn="l" rtl="0">
              <a:lnSpc>
                <a:spcPct val="115000"/>
              </a:lnSpc>
              <a:spcAft>
                <a:spcPts val="800"/>
              </a:spcAft>
              <a:buNone/>
              <a:tabLst>
                <a:tab pos="3013710" algn="l"/>
              </a:tabLst>
            </a:pPr>
            <a:r>
              <a:rPr lang="en-US" sz="1800" kern="100" dirty="0">
                <a:effectLst/>
                <a:latin typeface="Aptos" panose="020B0004020202020204" pitchFamily="34" charset="0"/>
                <a:ea typeface="Aptos" panose="020B0004020202020204" pitchFamily="34" charset="0"/>
                <a:cs typeface="Arial" panose="020B0604020202020204" pitchFamily="34" charset="0"/>
              </a:rPr>
              <a:t>Batch Sizes:</a:t>
            </a:r>
            <a:endParaRPr lang="en-IL" sz="1800" kern="100" dirty="0">
              <a:effectLst/>
              <a:latin typeface="Aptos" panose="020B0004020202020204" pitchFamily="34" charset="0"/>
              <a:ea typeface="Aptos" panose="020B0004020202020204" pitchFamily="34" charset="0"/>
              <a:cs typeface="Arial" panose="020B0604020202020204" pitchFamily="34" charset="0"/>
            </a:endParaRPr>
          </a:p>
        </p:txBody>
      </p:sp>
      <p:sp>
        <p:nvSpPr>
          <p:cNvPr id="14" name="TextBox 13">
            <a:extLst>
              <a:ext uri="{FF2B5EF4-FFF2-40B4-BE49-F238E27FC236}">
                <a16:creationId xmlns:a16="http://schemas.microsoft.com/office/drawing/2014/main" id="{A9810049-C7B9-E385-35AB-422FB2FEBC6B}"/>
              </a:ext>
            </a:extLst>
          </p:cNvPr>
          <p:cNvSpPr txBox="1"/>
          <p:nvPr/>
        </p:nvSpPr>
        <p:spPr>
          <a:xfrm>
            <a:off x="-233389" y="2726732"/>
            <a:ext cx="6184518" cy="395173"/>
          </a:xfrm>
          <a:prstGeom prst="rect">
            <a:avLst/>
          </a:prstGeom>
          <a:noFill/>
        </p:spPr>
        <p:txBody>
          <a:bodyPr wrap="square">
            <a:spAutoFit/>
          </a:bodyPr>
          <a:lstStyle/>
          <a:p>
            <a:pPr marL="485775" algn="l" rtl="0">
              <a:lnSpc>
                <a:spcPct val="115000"/>
              </a:lnSpc>
              <a:spcAft>
                <a:spcPts val="800"/>
              </a:spcAft>
              <a:buNone/>
              <a:tabLst>
                <a:tab pos="3013710" algn="l"/>
              </a:tabLst>
            </a:pPr>
            <a:r>
              <a:rPr lang="en-US" sz="1800" kern="100" dirty="0">
                <a:effectLst/>
                <a:latin typeface="Aptos" panose="020B0004020202020204" pitchFamily="34" charset="0"/>
                <a:ea typeface="Aptos" panose="020B0004020202020204" pitchFamily="34" charset="0"/>
                <a:cs typeface="Arial" panose="020B0604020202020204" pitchFamily="34" charset="0"/>
              </a:rPr>
              <a:t>Learning Rates:</a:t>
            </a:r>
            <a:endParaRPr lang="en-IL" sz="1800" kern="100" dirty="0">
              <a:effectLst/>
              <a:latin typeface="Aptos" panose="020B0004020202020204" pitchFamily="34" charset="0"/>
              <a:ea typeface="Aptos" panose="020B0004020202020204" pitchFamily="34" charset="0"/>
              <a:cs typeface="Arial" panose="020B0604020202020204" pitchFamily="34" charset="0"/>
            </a:endParaRPr>
          </a:p>
        </p:txBody>
      </p:sp>
      <p:sp>
        <p:nvSpPr>
          <p:cNvPr id="16" name="TextBox 15">
            <a:extLst>
              <a:ext uri="{FF2B5EF4-FFF2-40B4-BE49-F238E27FC236}">
                <a16:creationId xmlns:a16="http://schemas.microsoft.com/office/drawing/2014/main" id="{F969A93A-7C78-30E0-CC47-AFC93BCE19C6}"/>
              </a:ext>
            </a:extLst>
          </p:cNvPr>
          <p:cNvSpPr txBox="1"/>
          <p:nvPr/>
        </p:nvSpPr>
        <p:spPr>
          <a:xfrm>
            <a:off x="-248447" y="4385950"/>
            <a:ext cx="6214634" cy="395173"/>
          </a:xfrm>
          <a:prstGeom prst="rect">
            <a:avLst/>
          </a:prstGeom>
          <a:noFill/>
        </p:spPr>
        <p:txBody>
          <a:bodyPr wrap="square">
            <a:spAutoFit/>
          </a:bodyPr>
          <a:lstStyle/>
          <a:p>
            <a:pPr marL="485775" algn="l" rtl="0">
              <a:lnSpc>
                <a:spcPct val="115000"/>
              </a:lnSpc>
              <a:spcAft>
                <a:spcPts val="800"/>
              </a:spcAft>
              <a:buNone/>
              <a:tabLst>
                <a:tab pos="3013710" algn="l"/>
              </a:tabLst>
            </a:pPr>
            <a:r>
              <a:rPr lang="en-US" sz="1800" kern="100" dirty="0">
                <a:effectLst/>
                <a:latin typeface="Aptos" panose="020B0004020202020204" pitchFamily="34" charset="0"/>
                <a:ea typeface="Aptos" panose="020B0004020202020204" pitchFamily="34" charset="0"/>
                <a:cs typeface="Arial" panose="020B0604020202020204" pitchFamily="34" charset="0"/>
              </a:rPr>
              <a:t>Training Epochs:</a:t>
            </a:r>
            <a:endParaRPr lang="en-IL" sz="1800" kern="100" dirty="0">
              <a:effectLst/>
              <a:latin typeface="Aptos" panose="020B0004020202020204" pitchFamily="34" charset="0"/>
              <a:ea typeface="Aptos" panose="020B0004020202020204" pitchFamily="34" charset="0"/>
              <a:cs typeface="Arial" panose="020B0604020202020204" pitchFamily="34" charset="0"/>
            </a:endParaRPr>
          </a:p>
        </p:txBody>
      </p:sp>
      <p:sp>
        <p:nvSpPr>
          <p:cNvPr id="22" name="TextBox 21">
            <a:extLst>
              <a:ext uri="{FF2B5EF4-FFF2-40B4-BE49-F238E27FC236}">
                <a16:creationId xmlns:a16="http://schemas.microsoft.com/office/drawing/2014/main" id="{BA9F9319-7AE2-886B-EAA9-463A0B033B30}"/>
              </a:ext>
            </a:extLst>
          </p:cNvPr>
          <p:cNvSpPr txBox="1"/>
          <p:nvPr/>
        </p:nvSpPr>
        <p:spPr>
          <a:xfrm>
            <a:off x="286094" y="4949036"/>
            <a:ext cx="5205782" cy="369332"/>
          </a:xfrm>
          <a:prstGeom prst="rect">
            <a:avLst/>
          </a:prstGeom>
          <a:noFill/>
        </p:spPr>
        <p:txBody>
          <a:bodyPr wrap="square">
            <a:spAutoFit/>
          </a:bodyPr>
          <a:lstStyle/>
          <a:p>
            <a:pPr algn="l" rtl="0"/>
            <a:r>
              <a:rPr lang="en-US" dirty="0" err="1"/>
              <a:t>n_epoch</a:t>
            </a:r>
            <a:r>
              <a:rPr lang="en-US" dirty="0"/>
              <a:t> = 100 ( Total training epochs)</a:t>
            </a:r>
            <a:endParaRPr lang="en-IL" dirty="0"/>
          </a:p>
        </p:txBody>
      </p:sp>
      <p:sp>
        <p:nvSpPr>
          <p:cNvPr id="23" name="TextBox 22">
            <a:extLst>
              <a:ext uri="{FF2B5EF4-FFF2-40B4-BE49-F238E27FC236}">
                <a16:creationId xmlns:a16="http://schemas.microsoft.com/office/drawing/2014/main" id="{25103642-2058-31E3-8644-16A45F0F318B}"/>
              </a:ext>
            </a:extLst>
          </p:cNvPr>
          <p:cNvSpPr txBox="1"/>
          <p:nvPr/>
        </p:nvSpPr>
        <p:spPr>
          <a:xfrm>
            <a:off x="286093" y="5465289"/>
            <a:ext cx="5747851" cy="369332"/>
          </a:xfrm>
          <a:prstGeom prst="rect">
            <a:avLst/>
          </a:prstGeom>
          <a:noFill/>
        </p:spPr>
        <p:txBody>
          <a:bodyPr wrap="square">
            <a:spAutoFit/>
          </a:bodyPr>
          <a:lstStyle/>
          <a:p>
            <a:pPr algn="l" rtl="0"/>
            <a:r>
              <a:rPr lang="en-US" dirty="0" err="1"/>
              <a:t>g_epoch</a:t>
            </a:r>
            <a:r>
              <a:rPr lang="en-US" dirty="0"/>
              <a:t> = 5 (Generator training steps per epoch)</a:t>
            </a:r>
            <a:endParaRPr lang="en-IL" dirty="0"/>
          </a:p>
        </p:txBody>
      </p:sp>
      <p:sp>
        <p:nvSpPr>
          <p:cNvPr id="24" name="TextBox 23">
            <a:extLst>
              <a:ext uri="{FF2B5EF4-FFF2-40B4-BE49-F238E27FC236}">
                <a16:creationId xmlns:a16="http://schemas.microsoft.com/office/drawing/2014/main" id="{328AE20F-B5AC-C29D-3EC0-33004D45FF27}"/>
              </a:ext>
            </a:extLst>
          </p:cNvPr>
          <p:cNvSpPr txBox="1"/>
          <p:nvPr/>
        </p:nvSpPr>
        <p:spPr>
          <a:xfrm>
            <a:off x="286092" y="5997059"/>
            <a:ext cx="5747851" cy="369332"/>
          </a:xfrm>
          <a:prstGeom prst="rect">
            <a:avLst/>
          </a:prstGeom>
          <a:noFill/>
        </p:spPr>
        <p:txBody>
          <a:bodyPr wrap="square">
            <a:spAutoFit/>
          </a:bodyPr>
          <a:lstStyle/>
          <a:p>
            <a:pPr algn="l" rtl="0"/>
            <a:r>
              <a:rPr lang="en-US" dirty="0" err="1"/>
              <a:t>d_epoch</a:t>
            </a:r>
            <a:r>
              <a:rPr lang="en-US" dirty="0"/>
              <a:t> = 15 (Discriminator training steps per epoch)</a:t>
            </a:r>
            <a:endParaRPr lang="en-IL" dirty="0"/>
          </a:p>
        </p:txBody>
      </p:sp>
      <p:sp>
        <p:nvSpPr>
          <p:cNvPr id="6" name="TextBox 5">
            <a:extLst>
              <a:ext uri="{FF2B5EF4-FFF2-40B4-BE49-F238E27FC236}">
                <a16:creationId xmlns:a16="http://schemas.microsoft.com/office/drawing/2014/main" id="{50730957-D5E9-8B82-EFDB-A5BF9046C561}"/>
              </a:ext>
            </a:extLst>
          </p:cNvPr>
          <p:cNvSpPr txBox="1"/>
          <p:nvPr/>
        </p:nvSpPr>
        <p:spPr>
          <a:xfrm>
            <a:off x="5728044" y="1564766"/>
            <a:ext cx="5205782" cy="369332"/>
          </a:xfrm>
          <a:prstGeom prst="rect">
            <a:avLst/>
          </a:prstGeom>
          <a:noFill/>
        </p:spPr>
        <p:txBody>
          <a:bodyPr wrap="square">
            <a:spAutoFit/>
          </a:bodyPr>
          <a:lstStyle/>
          <a:p>
            <a:pPr algn="l" rtl="0"/>
            <a:r>
              <a:rPr lang="en-US" dirty="0" err="1"/>
              <a:t>n_node</a:t>
            </a:r>
            <a:r>
              <a:rPr lang="en-US" dirty="0"/>
              <a:t> = 23,166 - Number of nodes</a:t>
            </a:r>
            <a:endParaRPr lang="en-IL" dirty="0"/>
          </a:p>
        </p:txBody>
      </p:sp>
      <p:sp>
        <p:nvSpPr>
          <p:cNvPr id="11" name="TextBox 10">
            <a:extLst>
              <a:ext uri="{FF2B5EF4-FFF2-40B4-BE49-F238E27FC236}">
                <a16:creationId xmlns:a16="http://schemas.microsoft.com/office/drawing/2014/main" id="{1C5BE3FA-3489-BB82-2352-3B8C4EC5E926}"/>
              </a:ext>
            </a:extLst>
          </p:cNvPr>
          <p:cNvSpPr txBox="1"/>
          <p:nvPr/>
        </p:nvSpPr>
        <p:spPr>
          <a:xfrm>
            <a:off x="5728044" y="2015317"/>
            <a:ext cx="5205782" cy="369332"/>
          </a:xfrm>
          <a:prstGeom prst="rect">
            <a:avLst/>
          </a:prstGeom>
          <a:noFill/>
        </p:spPr>
        <p:txBody>
          <a:bodyPr wrap="square">
            <a:spAutoFit/>
          </a:bodyPr>
          <a:lstStyle/>
          <a:p>
            <a:pPr algn="l" rtl="0"/>
            <a:r>
              <a:rPr lang="en-US" dirty="0" err="1"/>
              <a:t>n_emb</a:t>
            </a:r>
            <a:r>
              <a:rPr lang="en-US" dirty="0"/>
              <a:t> = 128 – Embedding vector size</a:t>
            </a:r>
          </a:p>
        </p:txBody>
      </p:sp>
    </p:spTree>
    <p:extLst>
      <p:ext uri="{BB962C8B-B14F-4D97-AF65-F5344CB8AC3E}">
        <p14:creationId xmlns:p14="http://schemas.microsoft.com/office/powerpoint/2010/main" val="10936765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B96A10D-9FCB-79A2-B1D1-0BF6ADF1F410}"/>
              </a:ext>
            </a:extLst>
          </p:cNvPr>
          <p:cNvSpPr>
            <a:spLocks noGrp="1"/>
          </p:cNvSpPr>
          <p:nvPr>
            <p:ph type="sldNum" sz="quarter" idx="12"/>
          </p:nvPr>
        </p:nvSpPr>
        <p:spPr/>
        <p:txBody>
          <a:bodyPr/>
          <a:lstStyle/>
          <a:p>
            <a:fld id="{E8857CA7-8CDB-4DCB-9E96-A9FC7D5F934F}" type="slidenum">
              <a:rPr lang="en-US" smtClean="0"/>
              <a:t>15</a:t>
            </a:fld>
            <a:endParaRPr lang="en-US"/>
          </a:p>
        </p:txBody>
      </p:sp>
      <p:sp>
        <p:nvSpPr>
          <p:cNvPr id="5" name="כותרת 1">
            <a:extLst>
              <a:ext uri="{FF2B5EF4-FFF2-40B4-BE49-F238E27FC236}">
                <a16:creationId xmlns:a16="http://schemas.microsoft.com/office/drawing/2014/main" id="{D0E5D132-7F34-4393-5A0A-D43072D8CEC7}"/>
              </a:ext>
            </a:extLst>
          </p:cNvPr>
          <p:cNvSpPr>
            <a:spLocks noGrp="1"/>
          </p:cNvSpPr>
          <p:nvPr>
            <p:ph type="title"/>
          </p:nvPr>
        </p:nvSpPr>
        <p:spPr>
          <a:xfrm>
            <a:off x="38264" y="22638"/>
            <a:ext cx="9330232" cy="746391"/>
          </a:xfrm>
        </p:spPr>
        <p:txBody>
          <a:bodyPr/>
          <a:lstStyle/>
          <a:p>
            <a:pPr algn="l" rtl="0"/>
            <a:r>
              <a:rPr lang="en-US" dirty="0"/>
              <a:t>Learning Curve</a:t>
            </a:r>
          </a:p>
        </p:txBody>
      </p:sp>
      <p:pic>
        <p:nvPicPr>
          <p:cNvPr id="7" name="Picture 6">
            <a:extLst>
              <a:ext uri="{FF2B5EF4-FFF2-40B4-BE49-F238E27FC236}">
                <a16:creationId xmlns:a16="http://schemas.microsoft.com/office/drawing/2014/main" id="{EEBAD519-285A-3DFD-3B28-7DA7B6F06825}"/>
              </a:ext>
            </a:extLst>
          </p:cNvPr>
          <p:cNvPicPr>
            <a:picLocks noChangeAspect="1"/>
          </p:cNvPicPr>
          <p:nvPr/>
        </p:nvPicPr>
        <p:blipFill>
          <a:blip r:embed="rId2"/>
          <a:stretch>
            <a:fillRect/>
          </a:stretch>
        </p:blipFill>
        <p:spPr>
          <a:xfrm>
            <a:off x="1549158" y="673307"/>
            <a:ext cx="9093684" cy="6099824"/>
          </a:xfrm>
          <a:prstGeom prst="rect">
            <a:avLst/>
          </a:prstGeom>
        </p:spPr>
      </p:pic>
    </p:spTree>
    <p:extLst>
      <p:ext uri="{BB962C8B-B14F-4D97-AF65-F5344CB8AC3E}">
        <p14:creationId xmlns:p14="http://schemas.microsoft.com/office/powerpoint/2010/main" val="3496162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4E18D94-C6A2-C92A-3980-2F7539FAE97A}"/>
              </a:ext>
            </a:extLst>
          </p:cNvPr>
          <p:cNvSpPr>
            <a:spLocks noGrp="1"/>
          </p:cNvSpPr>
          <p:nvPr>
            <p:ph type="sldNum" sz="quarter" idx="12"/>
          </p:nvPr>
        </p:nvSpPr>
        <p:spPr/>
        <p:txBody>
          <a:bodyPr/>
          <a:lstStyle/>
          <a:p>
            <a:fld id="{E8857CA7-8CDB-4DCB-9E96-A9FC7D5F934F}" type="slidenum">
              <a:rPr lang="en-US" smtClean="0"/>
              <a:t>16</a:t>
            </a:fld>
            <a:endParaRPr lang="en-US"/>
          </a:p>
        </p:txBody>
      </p:sp>
      <p:sp>
        <p:nvSpPr>
          <p:cNvPr id="5" name="כותרת 1">
            <a:extLst>
              <a:ext uri="{FF2B5EF4-FFF2-40B4-BE49-F238E27FC236}">
                <a16:creationId xmlns:a16="http://schemas.microsoft.com/office/drawing/2014/main" id="{8158E41C-8C25-9328-8390-373FD573DD47}"/>
              </a:ext>
            </a:extLst>
          </p:cNvPr>
          <p:cNvSpPr>
            <a:spLocks noGrp="1"/>
          </p:cNvSpPr>
          <p:nvPr>
            <p:ph type="title"/>
          </p:nvPr>
        </p:nvSpPr>
        <p:spPr>
          <a:xfrm>
            <a:off x="191573" y="136525"/>
            <a:ext cx="9330232" cy="746391"/>
          </a:xfrm>
        </p:spPr>
        <p:txBody>
          <a:bodyPr/>
          <a:lstStyle/>
          <a:p>
            <a:pPr algn="l" rtl="0"/>
            <a:r>
              <a:rPr lang="en-US" dirty="0"/>
              <a:t>Results</a:t>
            </a:r>
          </a:p>
        </p:txBody>
      </p:sp>
      <p:pic>
        <p:nvPicPr>
          <p:cNvPr id="6" name="Picture 5">
            <a:extLst>
              <a:ext uri="{FF2B5EF4-FFF2-40B4-BE49-F238E27FC236}">
                <a16:creationId xmlns:a16="http://schemas.microsoft.com/office/drawing/2014/main" id="{6CBE2F81-1D74-BFEC-00E2-2C74AC14135D}"/>
              </a:ext>
            </a:extLst>
          </p:cNvPr>
          <p:cNvPicPr>
            <a:picLocks noChangeAspect="1"/>
          </p:cNvPicPr>
          <p:nvPr/>
        </p:nvPicPr>
        <p:blipFill>
          <a:blip r:embed="rId3"/>
          <a:stretch>
            <a:fillRect/>
          </a:stretch>
        </p:blipFill>
        <p:spPr>
          <a:xfrm>
            <a:off x="2799451" y="27375"/>
            <a:ext cx="7786744" cy="1214446"/>
          </a:xfrm>
          <a:prstGeom prst="rect">
            <a:avLst/>
          </a:prstGeom>
        </p:spPr>
      </p:pic>
      <p:pic>
        <p:nvPicPr>
          <p:cNvPr id="8" name="Picture 7" descr="A graph of a line graph&#10;&#10;AI-generated content may be incorrect.">
            <a:extLst>
              <a:ext uri="{FF2B5EF4-FFF2-40B4-BE49-F238E27FC236}">
                <a16:creationId xmlns:a16="http://schemas.microsoft.com/office/drawing/2014/main" id="{EE7B3DA8-4AD2-9481-88CC-ECA67D9B55F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1836" y="1275782"/>
            <a:ext cx="7955224" cy="5549368"/>
          </a:xfrm>
          <a:prstGeom prst="rect">
            <a:avLst/>
          </a:prstGeom>
        </p:spPr>
      </p:pic>
      <p:sp>
        <p:nvSpPr>
          <p:cNvPr id="10" name="TextBox 9">
            <a:extLst>
              <a:ext uri="{FF2B5EF4-FFF2-40B4-BE49-F238E27FC236}">
                <a16:creationId xmlns:a16="http://schemas.microsoft.com/office/drawing/2014/main" id="{9987B29F-1318-383A-7669-8AB545C2DF56}"/>
              </a:ext>
            </a:extLst>
          </p:cNvPr>
          <p:cNvSpPr txBox="1"/>
          <p:nvPr/>
        </p:nvSpPr>
        <p:spPr>
          <a:xfrm>
            <a:off x="8113702" y="1251926"/>
            <a:ext cx="4028105" cy="1805623"/>
          </a:xfrm>
          <a:prstGeom prst="rect">
            <a:avLst/>
          </a:prstGeom>
          <a:noFill/>
        </p:spPr>
        <p:txBody>
          <a:bodyPr wrap="square">
            <a:spAutoFit/>
          </a:bodyPr>
          <a:lstStyle/>
          <a:p>
            <a:pPr algn="l" rtl="0">
              <a:spcBef>
                <a:spcPts val="150"/>
              </a:spcBef>
              <a:spcAft>
                <a:spcPts val="150"/>
              </a:spcAft>
            </a:pPr>
            <a:r>
              <a:rPr lang="en-US" dirty="0">
                <a:ea typeface="+mj-ea"/>
                <a:cs typeface="+mj-cs"/>
              </a:rPr>
              <a:t>0% removed: Can you tell if an edge exists vs. a completely random pair of nodes?</a:t>
            </a:r>
          </a:p>
          <a:p>
            <a:pPr algn="l" rtl="0">
              <a:spcBef>
                <a:spcPts val="150"/>
              </a:spcBef>
              <a:spcAft>
                <a:spcPts val="150"/>
              </a:spcAft>
            </a:pPr>
            <a:r>
              <a:rPr lang="en-US" dirty="0">
                <a:ea typeface="+mj-ea"/>
                <a:cs typeface="+mj-cs"/>
              </a:rPr>
              <a:t>Hardest test - requires learning which nodes are actually connected in the graph</a:t>
            </a:r>
          </a:p>
        </p:txBody>
      </p:sp>
      <p:sp>
        <p:nvSpPr>
          <p:cNvPr id="11" name="TextBox 10">
            <a:extLst>
              <a:ext uri="{FF2B5EF4-FFF2-40B4-BE49-F238E27FC236}">
                <a16:creationId xmlns:a16="http://schemas.microsoft.com/office/drawing/2014/main" id="{6E547902-8BCE-45FD-37DB-0226C64336A0}"/>
              </a:ext>
            </a:extLst>
          </p:cNvPr>
          <p:cNvSpPr txBox="1"/>
          <p:nvPr/>
        </p:nvSpPr>
        <p:spPr>
          <a:xfrm>
            <a:off x="8113703" y="3138840"/>
            <a:ext cx="4028105" cy="2031325"/>
          </a:xfrm>
          <a:prstGeom prst="rect">
            <a:avLst/>
          </a:prstGeom>
          <a:noFill/>
        </p:spPr>
        <p:txBody>
          <a:bodyPr wrap="square">
            <a:spAutoFit/>
          </a:bodyPr>
          <a:lstStyle/>
          <a:p>
            <a:pPr algn="l" rtl="0"/>
            <a:r>
              <a:rPr lang="en-US" dirty="0">
                <a:ea typeface="+mj-ea"/>
                <a:cs typeface="+mj-cs"/>
              </a:rPr>
              <a:t>50% removed: Can you tell if an edge exists when half the negatives are reversed edges and half are random pairs?</a:t>
            </a:r>
          </a:p>
          <a:p>
            <a:pPr algn="l" rtl="0"/>
            <a:r>
              <a:rPr lang="en-US" dirty="0">
                <a:ea typeface="+mj-ea"/>
                <a:cs typeface="+mj-cs"/>
              </a:rPr>
              <a:t>Medium difficulty - tests both directionality and general connectivity</a:t>
            </a:r>
          </a:p>
        </p:txBody>
      </p:sp>
      <p:sp>
        <p:nvSpPr>
          <p:cNvPr id="12" name="TextBox 11">
            <a:extLst>
              <a:ext uri="{FF2B5EF4-FFF2-40B4-BE49-F238E27FC236}">
                <a16:creationId xmlns:a16="http://schemas.microsoft.com/office/drawing/2014/main" id="{D2D872C0-DA76-7D23-B3ED-A246EAD03CAD}"/>
              </a:ext>
            </a:extLst>
          </p:cNvPr>
          <p:cNvSpPr txBox="1"/>
          <p:nvPr/>
        </p:nvSpPr>
        <p:spPr>
          <a:xfrm>
            <a:off x="8113702" y="5275473"/>
            <a:ext cx="4028105" cy="1477328"/>
          </a:xfrm>
          <a:prstGeom prst="rect">
            <a:avLst/>
          </a:prstGeom>
          <a:noFill/>
        </p:spPr>
        <p:txBody>
          <a:bodyPr wrap="square">
            <a:spAutoFit/>
          </a:bodyPr>
          <a:lstStyle/>
          <a:p>
            <a:pPr algn="l" rtl="0"/>
            <a:r>
              <a:rPr lang="en-US" dirty="0">
                <a:ea typeface="+mj-ea"/>
                <a:cs typeface="+mj-cs"/>
              </a:rPr>
              <a:t>100% removed: Can you tell if an edge goes in the correct direction?</a:t>
            </a:r>
          </a:p>
          <a:p>
            <a:pPr algn="l" rtl="0"/>
            <a:r>
              <a:rPr lang="en-US" dirty="0">
                <a:ea typeface="+mj-ea"/>
                <a:cs typeface="+mj-cs"/>
              </a:rPr>
              <a:t>Easiest test - only requires learning edge directionality (</a:t>
            </a:r>
            <a:r>
              <a:rPr lang="en-US" dirty="0" err="1">
                <a:ea typeface="+mj-ea"/>
                <a:cs typeface="+mj-cs"/>
              </a:rPr>
              <a:t>source→target</a:t>
            </a:r>
            <a:r>
              <a:rPr lang="en-US" dirty="0">
                <a:ea typeface="+mj-ea"/>
                <a:cs typeface="+mj-cs"/>
              </a:rPr>
              <a:t> vs </a:t>
            </a:r>
            <a:r>
              <a:rPr lang="en-US" dirty="0" err="1">
                <a:ea typeface="+mj-ea"/>
                <a:cs typeface="+mj-cs"/>
              </a:rPr>
              <a:t>target→source</a:t>
            </a:r>
            <a:r>
              <a:rPr lang="en-US" dirty="0">
                <a:ea typeface="+mj-ea"/>
                <a:cs typeface="+mj-cs"/>
              </a:rPr>
              <a:t>)</a:t>
            </a:r>
          </a:p>
        </p:txBody>
      </p:sp>
      <p:cxnSp>
        <p:nvCxnSpPr>
          <p:cNvPr id="14" name="Straight Connector 13">
            <a:extLst>
              <a:ext uri="{FF2B5EF4-FFF2-40B4-BE49-F238E27FC236}">
                <a16:creationId xmlns:a16="http://schemas.microsoft.com/office/drawing/2014/main" id="{645423CA-5062-9B82-E895-4327B87B1F1F}"/>
              </a:ext>
            </a:extLst>
          </p:cNvPr>
          <p:cNvCxnSpPr/>
          <p:nvPr/>
        </p:nvCxnSpPr>
        <p:spPr>
          <a:xfrm>
            <a:off x="8113702" y="3057549"/>
            <a:ext cx="3954188"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522253A8-39B2-056D-469E-D31C022FA35C}"/>
              </a:ext>
            </a:extLst>
          </p:cNvPr>
          <p:cNvCxnSpPr/>
          <p:nvPr/>
        </p:nvCxnSpPr>
        <p:spPr>
          <a:xfrm>
            <a:off x="8119177" y="5226198"/>
            <a:ext cx="395418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500642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2989C705-5437-34C5-9CC9-DD6FE5CCD771}"/>
              </a:ext>
            </a:extLst>
          </p:cNvPr>
          <p:cNvSpPr txBox="1">
            <a:spLocks noGrp="1"/>
          </p:cNvSpPr>
          <p:nvPr>
            <p:ph type="sldNum" sz="quarter" idx="8"/>
          </p:nvPr>
        </p:nvSpPr>
        <p:spPr>
          <a:xfrm>
            <a:off x="838203" y="6356351"/>
            <a:ext cx="2743200" cy="365129"/>
          </a:xfrm>
          <a:prstGeom prst="rect">
            <a:avLst/>
          </a:prstGeom>
          <a:noFill/>
          <a:ln>
            <a:noFill/>
          </a:ln>
        </p:spPr>
        <p:txBody>
          <a:bodyPr vert="horz" wrap="square" lIns="91440" tIns="45720" rIns="91440" bIns="45720" anchor="ctr" anchorCtr="0" compatLnSpc="1">
            <a:noAutofit/>
          </a:bodyPr>
          <a:lstStyle>
            <a:defPPr>
              <a:defRPr lang="en-US"/>
            </a:defPPr>
            <a:lvl1pPr marL="0" marR="0" lvl="0" indent="0" algn="r" defTabSz="914400" rtl="1" eaLnBrk="1" fontAlgn="auto" latinLnBrk="0" hangingPunct="1">
              <a:lnSpc>
                <a:spcPct val="100000"/>
              </a:lnSpc>
              <a:spcBef>
                <a:spcPts val="0"/>
              </a:spcBef>
              <a:spcAft>
                <a:spcPts val="0"/>
              </a:spcAft>
              <a:buNone/>
              <a:tabLst/>
              <a:defRPr lang="en-US" sz="1200" b="0" i="0" u="none" strike="noStrike" kern="1200" cap="none" spc="0" baseline="0">
                <a:solidFill>
                  <a:srgbClr val="767676"/>
                </a:solidFill>
                <a:uFillTx/>
                <a:latin typeface="Aptos"/>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a:lstStyle>
          <a:p>
            <a:pPr lvl="0"/>
            <a:fld id="{57ABC609-7509-4A01-9BBD-408978320E33}" type="slidenum">
              <a:rPr lang="en-US" smtClean="0"/>
              <a:pPr lvl="0"/>
              <a:t>17</a:t>
            </a:fld>
            <a:endParaRPr lang="en-US"/>
          </a:p>
        </p:txBody>
      </p:sp>
      <p:sp>
        <p:nvSpPr>
          <p:cNvPr id="3" name="כותרת 1">
            <a:extLst>
              <a:ext uri="{FF2B5EF4-FFF2-40B4-BE49-F238E27FC236}">
                <a16:creationId xmlns:a16="http://schemas.microsoft.com/office/drawing/2014/main" id="{D084BEC4-1D98-6C49-52B7-86AA495506B3}"/>
              </a:ext>
            </a:extLst>
          </p:cNvPr>
          <p:cNvSpPr txBox="1">
            <a:spLocks noGrp="1"/>
          </p:cNvSpPr>
          <p:nvPr>
            <p:ph type="title"/>
          </p:nvPr>
        </p:nvSpPr>
        <p:spPr>
          <a:xfrm>
            <a:off x="125867" y="30422"/>
            <a:ext cx="10129650" cy="746388"/>
          </a:xfrm>
        </p:spPr>
        <p:txBody>
          <a:bodyPr>
            <a:normAutofit fontScale="90000"/>
          </a:bodyPr>
          <a:lstStyle/>
          <a:p>
            <a:pPr lvl="0" algn="l" rtl="0"/>
            <a:r>
              <a:rPr lang="en-US"/>
              <a:t>Dimensionality Reduction (t-SNE Visualization)</a:t>
            </a:r>
          </a:p>
        </p:txBody>
      </p:sp>
      <p:pic>
        <p:nvPicPr>
          <p:cNvPr id="4" name="Picture 5">
            <a:extLst>
              <a:ext uri="{FF2B5EF4-FFF2-40B4-BE49-F238E27FC236}">
                <a16:creationId xmlns:a16="http://schemas.microsoft.com/office/drawing/2014/main" id="{D61E11DD-CE79-D5A0-6D43-C2B5D165D82D}"/>
              </a:ext>
            </a:extLst>
          </p:cNvPr>
          <p:cNvPicPr>
            <a:picLocks noChangeAspect="1"/>
          </p:cNvPicPr>
          <p:nvPr/>
        </p:nvPicPr>
        <p:blipFill>
          <a:blip r:embed="rId2"/>
          <a:stretch>
            <a:fillRect/>
          </a:stretch>
        </p:blipFill>
        <p:spPr>
          <a:xfrm>
            <a:off x="2407825" y="855732"/>
            <a:ext cx="7376355" cy="5780507"/>
          </a:xfrm>
          <a:prstGeom prst="rect">
            <a:avLst/>
          </a:prstGeom>
          <a:noFill/>
          <a:ln cap="flat">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22515CF9-F413-0BBF-27FF-B5379E52C9B6}"/>
              </a:ext>
            </a:extLst>
          </p:cNvPr>
          <p:cNvSpPr txBox="1">
            <a:spLocks noGrp="1"/>
          </p:cNvSpPr>
          <p:nvPr>
            <p:ph type="title"/>
          </p:nvPr>
        </p:nvSpPr>
        <p:spPr>
          <a:xfrm>
            <a:off x="416591" y="352546"/>
            <a:ext cx="9242096" cy="775402"/>
          </a:xfrm>
        </p:spPr>
        <p:txBody>
          <a:bodyPr/>
          <a:lstStyle/>
          <a:p>
            <a:pPr lvl="0" algn="l" rtl="0"/>
            <a:r>
              <a:rPr lang="en-US"/>
              <a:t>Evaluation Flow</a:t>
            </a:r>
          </a:p>
        </p:txBody>
      </p:sp>
      <p:sp>
        <p:nvSpPr>
          <p:cNvPr id="3" name="מציין מיקום תוכן 2">
            <a:extLst>
              <a:ext uri="{FF2B5EF4-FFF2-40B4-BE49-F238E27FC236}">
                <a16:creationId xmlns:a16="http://schemas.microsoft.com/office/drawing/2014/main" id="{37024247-6BFE-FEE3-CB1C-7BEA6AE2886D}"/>
              </a:ext>
            </a:extLst>
          </p:cNvPr>
          <p:cNvSpPr txBox="1">
            <a:spLocks noGrp="1"/>
          </p:cNvSpPr>
          <p:nvPr>
            <p:ph idx="1"/>
          </p:nvPr>
        </p:nvSpPr>
        <p:spPr>
          <a:xfrm>
            <a:off x="416591" y="1401235"/>
            <a:ext cx="7516770" cy="2000387"/>
          </a:xfrm>
        </p:spPr>
        <p:txBody>
          <a:bodyPr>
            <a:noAutofit/>
          </a:bodyPr>
          <a:lstStyle/>
          <a:p>
            <a:pPr marL="0" lvl="0" indent="0" algn="l" rtl="0">
              <a:buNone/>
            </a:pPr>
            <a:r>
              <a:rPr lang="en-US" sz="2000"/>
              <a:t>This flowchart illustrates the full evaluation process used for validating DGGAN link predictions. The process includes randomly removing a percentage of real citation links to simulate missing edges, predicting these missing links using DGGAN, and comparing the predicted links to the original graph. This procedure is repeated </a:t>
            </a:r>
            <a:r>
              <a:rPr lang="en-US" sz="2000" i="1"/>
              <a:t>k</a:t>
            </a:r>
            <a:r>
              <a:rPr lang="en-US" sz="2000"/>
              <a:t> times to ensure a reliable and statistically robust performance evaluation.</a:t>
            </a:r>
            <a:br>
              <a:rPr lang="en-US" sz="2000"/>
            </a:br>
            <a:endParaRPr lang="en-US" sz="2000"/>
          </a:p>
        </p:txBody>
      </p:sp>
      <p:sp>
        <p:nvSpPr>
          <p:cNvPr id="4" name="מציין מיקום של מספר שקופית 5">
            <a:extLst>
              <a:ext uri="{FF2B5EF4-FFF2-40B4-BE49-F238E27FC236}">
                <a16:creationId xmlns:a16="http://schemas.microsoft.com/office/drawing/2014/main" id="{964DACEB-BE63-AC33-5AF6-5E4F4BF7C936}"/>
              </a:ext>
            </a:extLst>
          </p:cNvPr>
          <p:cNvSpPr txBox="1">
            <a:spLocks noGrp="1"/>
          </p:cNvSpPr>
          <p:nvPr>
            <p:ph type="sldNum" sz="quarter" idx="8"/>
          </p:nvPr>
        </p:nvSpPr>
        <p:spPr>
          <a:xfrm>
            <a:off x="838203" y="6356351"/>
            <a:ext cx="2743200" cy="365129"/>
          </a:xfrm>
          <a:prstGeom prst="rect">
            <a:avLst/>
          </a:prstGeom>
          <a:noFill/>
          <a:ln>
            <a:noFill/>
          </a:ln>
        </p:spPr>
        <p:txBody>
          <a:bodyPr vert="horz" wrap="square" lIns="91440" tIns="45720" rIns="91440" bIns="45720" anchor="ctr" anchorCtr="0" compatLnSpc="1">
            <a:noAutofit/>
          </a:bodyPr>
          <a:lstStyle>
            <a:defPPr>
              <a:defRPr lang="en-US"/>
            </a:defPPr>
            <a:lvl1pPr marL="0" marR="0" lvl="0" indent="0" algn="r" defTabSz="914400" rtl="1" eaLnBrk="1" fontAlgn="auto" latinLnBrk="0" hangingPunct="1">
              <a:lnSpc>
                <a:spcPct val="100000"/>
              </a:lnSpc>
              <a:spcBef>
                <a:spcPts val="0"/>
              </a:spcBef>
              <a:spcAft>
                <a:spcPts val="0"/>
              </a:spcAft>
              <a:buNone/>
              <a:tabLst/>
              <a:defRPr lang="en-US" sz="1200" b="0" i="0" u="none" strike="noStrike" kern="1200" cap="none" spc="0" baseline="0">
                <a:solidFill>
                  <a:srgbClr val="767676"/>
                </a:solidFill>
                <a:uFillTx/>
                <a:latin typeface="Aptos"/>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a:lstStyle>
          <a:p>
            <a:pPr lvl="0"/>
            <a:fld id="{57ABC609-7509-4A01-9BBD-408978320E33}" type="slidenum">
              <a:rPr lang="en-US" smtClean="0"/>
              <a:pPr lvl="0"/>
              <a:t>18</a:t>
            </a:fld>
            <a:endParaRPr lang="en-US"/>
          </a:p>
        </p:txBody>
      </p:sp>
      <p:sp>
        <p:nvSpPr>
          <p:cNvPr id="5" name="תיבת טקסט 9">
            <a:extLst>
              <a:ext uri="{FF2B5EF4-FFF2-40B4-BE49-F238E27FC236}">
                <a16:creationId xmlns:a16="http://schemas.microsoft.com/office/drawing/2014/main" id="{19D87BDF-2AAA-7825-A414-9E01B215D867}"/>
              </a:ext>
            </a:extLst>
          </p:cNvPr>
          <p:cNvSpPr txBox="1"/>
          <p:nvPr/>
        </p:nvSpPr>
        <p:spPr>
          <a:xfrm>
            <a:off x="7986835" y="6075145"/>
            <a:ext cx="6093067" cy="646334"/>
          </a:xfrm>
          <a:prstGeom prst="rect">
            <a:avLst/>
          </a:prstGeom>
          <a:noFill/>
          <a:ln cap="flat">
            <a:noFill/>
          </a:ln>
        </p:spPr>
        <p:txBody>
          <a:bodyPr vert="horz" wrap="square" lIns="91440" tIns="45720" rIns="91440" bIns="45720" anchor="t" anchorCtr="0" compatLnSpc="1">
            <a:spAutoFit/>
          </a:bodyPr>
          <a:lstStyle/>
          <a:p>
            <a:pPr marL="285750" marR="0" lvl="0" indent="-285750" algn="l" defTabSz="914400" rtl="0" fontAlgn="auto" hangingPunct="1">
              <a:lnSpc>
                <a:spcPct val="100000"/>
              </a:lnSpc>
              <a:spcBef>
                <a:spcPts val="0"/>
              </a:spcBef>
              <a:spcAft>
                <a:spcPts val="0"/>
              </a:spcAft>
              <a:buClr>
                <a:srgbClr val="000000"/>
              </a:buClr>
              <a:buSzPct val="100000"/>
              <a:buFont typeface="Arial" pitchFamily="34"/>
              <a:buChar char="•"/>
              <a:tabLst/>
              <a:defRPr sz="1800" b="0" i="0" u="none" strike="noStrike" kern="0" cap="none" spc="0" baseline="0">
                <a:solidFill>
                  <a:srgbClr val="000000"/>
                </a:solidFill>
                <a:uFillTx/>
              </a:defRPr>
            </a:pPr>
            <a:r>
              <a:rPr lang="en-IL" sz="1800" b="1" i="1" u="none" strike="noStrike" kern="0" cap="none" spc="0" baseline="0">
                <a:solidFill>
                  <a:srgbClr val="000000"/>
                </a:solidFill>
                <a:uFillTx/>
                <a:latin typeface="Fira Sans Condensed"/>
              </a:rPr>
              <a:t>k</a:t>
            </a:r>
            <a:r>
              <a:rPr lang="en-IL" sz="1800" b="0" i="0" u="none" strike="noStrike" kern="0" cap="none" spc="0" baseline="0">
                <a:solidFill>
                  <a:srgbClr val="000000"/>
                </a:solidFill>
                <a:uFillTx/>
                <a:latin typeface="Fira Sans Condensed"/>
              </a:rPr>
              <a:t> is the iteration number</a:t>
            </a:r>
          </a:p>
          <a:p>
            <a:pPr marL="285750" marR="0" lvl="0" indent="-285750" algn="l" defTabSz="914400" rtl="0" fontAlgn="auto" hangingPunct="1">
              <a:lnSpc>
                <a:spcPct val="100000"/>
              </a:lnSpc>
              <a:spcBef>
                <a:spcPts val="0"/>
              </a:spcBef>
              <a:spcAft>
                <a:spcPts val="0"/>
              </a:spcAft>
              <a:buClr>
                <a:srgbClr val="000000"/>
              </a:buClr>
              <a:buSzPct val="100000"/>
              <a:buFont typeface="Arial" pitchFamily="34"/>
              <a:buChar char="•"/>
              <a:tabLst/>
              <a:defRPr sz="1800" b="0" i="0" u="none" strike="noStrike" kern="0" cap="none" spc="0" baseline="0">
                <a:solidFill>
                  <a:srgbClr val="000000"/>
                </a:solidFill>
                <a:uFillTx/>
              </a:defRPr>
            </a:pPr>
            <a:r>
              <a:rPr lang="en-IL" sz="1800" b="1" i="0" u="none" strike="noStrike" kern="0" cap="none" spc="0" baseline="0">
                <a:solidFill>
                  <a:srgbClr val="000000"/>
                </a:solidFill>
                <a:uFillTx/>
                <a:latin typeface="Fira Sans Condensed"/>
              </a:rPr>
              <a:t>P</a:t>
            </a:r>
            <a:r>
              <a:rPr lang="en-IL" sz="1800" b="0" i="0" u="none" strike="noStrike" kern="0" cap="none" spc="0" baseline="0">
                <a:solidFill>
                  <a:srgbClr val="000000"/>
                </a:solidFill>
                <a:uFillTx/>
                <a:latin typeface="Fira Sans Condensed"/>
              </a:rPr>
              <a:t> is the fraction of the omitted edges</a:t>
            </a:r>
          </a:p>
        </p:txBody>
      </p:sp>
      <p:pic>
        <p:nvPicPr>
          <p:cNvPr id="6" name="תמונה 3" descr="תמונה שמכילה טקסט, צילום מסך, גופן, מספר&#10;&#10;תוכן שנוצר על-ידי בינה מלאכותית עשוי להיות שגוי.">
            <a:extLst>
              <a:ext uri="{FF2B5EF4-FFF2-40B4-BE49-F238E27FC236}">
                <a16:creationId xmlns:a16="http://schemas.microsoft.com/office/drawing/2014/main" id="{53EF7E7B-1D0E-2065-1697-BDBB2AF11C24}"/>
              </a:ext>
            </a:extLst>
          </p:cNvPr>
          <p:cNvPicPr>
            <a:picLocks noChangeAspect="1"/>
          </p:cNvPicPr>
          <p:nvPr/>
        </p:nvPicPr>
        <p:blipFill>
          <a:blip r:embed="rId2"/>
          <a:srcRect r="12632"/>
          <a:stretch>
            <a:fillRect/>
          </a:stretch>
        </p:blipFill>
        <p:spPr>
          <a:xfrm>
            <a:off x="8289264" y="1276346"/>
            <a:ext cx="2979215" cy="4305296"/>
          </a:xfrm>
          <a:prstGeom prst="rect">
            <a:avLst/>
          </a:prstGeom>
          <a:noFill/>
          <a:ln cap="flat">
            <a:noFill/>
          </a:ln>
        </p:spPr>
      </p:pic>
      <p:sp>
        <p:nvSpPr>
          <p:cNvPr id="7" name="TextBox 6">
            <a:extLst>
              <a:ext uri="{FF2B5EF4-FFF2-40B4-BE49-F238E27FC236}">
                <a16:creationId xmlns:a16="http://schemas.microsoft.com/office/drawing/2014/main" id="{2459723B-5D1B-E22E-468C-179B89A1C538}"/>
              </a:ext>
            </a:extLst>
          </p:cNvPr>
          <p:cNvSpPr txBox="1"/>
          <p:nvPr/>
        </p:nvSpPr>
        <p:spPr>
          <a:xfrm>
            <a:off x="11104665" y="2974259"/>
            <a:ext cx="1221025" cy="519077"/>
          </a:xfrm>
          <a:prstGeom prst="rect">
            <a:avLst/>
          </a:prstGeom>
          <a:noFill/>
          <a:ln cap="flat">
            <a:noFill/>
          </a:ln>
        </p:spPr>
        <p:txBody>
          <a:bodyPr vert="horz" wrap="square" lIns="91440" tIns="45720" rIns="91440" bIns="45720" anchor="t" anchorCtr="1" compatLnSpc="1">
            <a:spAutoFit/>
          </a:bodyPr>
          <a:lstStyle/>
          <a:p>
            <a:pPr marL="0" marR="0" lvl="0" indent="0" algn="ctr" defTabSz="914400" rtl="1"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400" b="0" i="0" u="none" strike="noStrike" kern="0" cap="none" spc="0" baseline="0">
                <a:solidFill>
                  <a:srgbClr val="000000"/>
                </a:solidFill>
                <a:uFillTx/>
                <a:latin typeface="Fira Sans Condensed"/>
              </a:rPr>
              <a:t>Repeated k</a:t>
            </a:r>
          </a:p>
          <a:p>
            <a:pPr marL="0" marR="0" lvl="0" indent="0" algn="ctr" defTabSz="914400" rtl="1"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400" b="0" i="0" u="none" strike="noStrike" kern="0" cap="none" spc="0" baseline="0">
                <a:solidFill>
                  <a:srgbClr val="000000"/>
                </a:solidFill>
                <a:uFillTx/>
                <a:latin typeface="Fira Sans Condensed"/>
              </a:rPr>
              <a:t>times</a:t>
            </a:r>
            <a:endParaRPr lang="en-IL" sz="1400" b="0" i="0" u="none" strike="noStrike" kern="1200" cap="none" spc="0" baseline="0">
              <a:solidFill>
                <a:srgbClr val="000000"/>
              </a:solidFill>
              <a:uFillTx/>
              <a:latin typeface="Apto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CE55EB98-1378-495B-4C9E-F535C0D09A5D}"/>
              </a:ext>
            </a:extLst>
          </p:cNvPr>
          <p:cNvSpPr txBox="1">
            <a:spLocks noGrp="1"/>
          </p:cNvSpPr>
          <p:nvPr>
            <p:ph type="title"/>
          </p:nvPr>
        </p:nvSpPr>
        <p:spPr>
          <a:xfrm>
            <a:off x="-65251" y="364123"/>
            <a:ext cx="12833997" cy="593079"/>
          </a:xfrm>
        </p:spPr>
        <p:txBody>
          <a:bodyPr>
            <a:noAutofit/>
          </a:bodyPr>
          <a:lstStyle/>
          <a:p>
            <a:pPr lvl="0" algn="l" rtl="0"/>
            <a:r>
              <a:rPr lang="en-US"/>
              <a:t>Evaluation Results - Link Reconstruction Performance</a:t>
            </a:r>
            <a:br>
              <a:rPr lang="en-US"/>
            </a:br>
            <a:endParaRPr lang="en-US"/>
          </a:p>
        </p:txBody>
      </p:sp>
      <p:pic>
        <p:nvPicPr>
          <p:cNvPr id="3" name="Picture 1" descr="A graph with a line and a line&#10;&#10;AI-generated content may be incorrect.">
            <a:extLst>
              <a:ext uri="{FF2B5EF4-FFF2-40B4-BE49-F238E27FC236}">
                <a16:creationId xmlns:a16="http://schemas.microsoft.com/office/drawing/2014/main" id="{7E13BEF8-FC91-C380-450F-DD401BD2F495}"/>
              </a:ext>
            </a:extLst>
          </p:cNvPr>
          <p:cNvPicPr>
            <a:picLocks noChangeAspect="1"/>
          </p:cNvPicPr>
          <p:nvPr/>
        </p:nvPicPr>
        <p:blipFill>
          <a:blip r:embed="rId2"/>
          <a:stretch>
            <a:fillRect/>
          </a:stretch>
        </p:blipFill>
        <p:spPr>
          <a:xfrm>
            <a:off x="1640040" y="574755"/>
            <a:ext cx="8911916" cy="5924598"/>
          </a:xfrm>
          <a:prstGeom prst="rect">
            <a:avLst/>
          </a:prstGeom>
          <a:noFill/>
          <a:ln cap="flat">
            <a:noFill/>
          </a:ln>
        </p:spPr>
      </p:pic>
      <p:sp>
        <p:nvSpPr>
          <p:cNvPr id="4" name="תיבת טקסט 6">
            <a:extLst>
              <a:ext uri="{FF2B5EF4-FFF2-40B4-BE49-F238E27FC236}">
                <a16:creationId xmlns:a16="http://schemas.microsoft.com/office/drawing/2014/main" id="{31F2A78E-CC21-D32A-2B33-FE26C2D29981}"/>
              </a:ext>
            </a:extLst>
          </p:cNvPr>
          <p:cNvSpPr txBox="1"/>
          <p:nvPr/>
        </p:nvSpPr>
        <p:spPr>
          <a:xfrm>
            <a:off x="259168" y="6432429"/>
            <a:ext cx="11673660" cy="369335"/>
          </a:xfrm>
          <a:prstGeom prst="rect">
            <a:avLst/>
          </a:prstGeom>
          <a:noFill/>
          <a:ln cap="flat">
            <a:noFill/>
          </a:ln>
        </p:spPr>
        <p:txBody>
          <a:bodyPr vert="horz" wrap="square" lIns="91440" tIns="45720" rIns="91440" bIns="45720" anchor="t" anchorCtr="0" compatLnSpc="1">
            <a:spAutoFit/>
          </a:bodyPr>
          <a:lstStyle/>
          <a:p>
            <a:pPr marL="0" marR="0" lvl="0" indent="0" algn="r" defTabSz="914400" rtl="1"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800" b="0" i="0" u="none" strike="noStrike" kern="1200" cap="none" spc="0" baseline="0">
                <a:solidFill>
                  <a:srgbClr val="000000"/>
                </a:solidFill>
                <a:uFillTx/>
                <a:latin typeface="Aptos"/>
              </a:rPr>
              <a:t>Distribution of hit ranks and cumulative hit ranks at which the model successfully predicted true citation links.</a:t>
            </a:r>
            <a:endParaRPr lang="en-IL" sz="1800" b="0" i="0" u="none" strike="noStrike" kern="1200" cap="none" spc="0" baseline="0">
              <a:solidFill>
                <a:srgbClr val="000000"/>
              </a:solidFill>
              <a:uFillTx/>
              <a:latin typeface="Apto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79AD20EC-63EC-1522-BC72-D57D581D14F5}"/>
              </a:ext>
            </a:extLst>
          </p:cNvPr>
          <p:cNvSpPr txBox="1">
            <a:spLocks noGrp="1"/>
          </p:cNvSpPr>
          <p:nvPr>
            <p:ph type="title"/>
          </p:nvPr>
        </p:nvSpPr>
        <p:spPr>
          <a:xfrm>
            <a:off x="124568" y="130768"/>
            <a:ext cx="12067437" cy="587602"/>
          </a:xfrm>
        </p:spPr>
        <p:txBody>
          <a:bodyPr>
            <a:noAutofit/>
          </a:bodyPr>
          <a:lstStyle/>
          <a:p>
            <a:pPr lvl="0" algn="l" rtl="0"/>
            <a:r>
              <a:rPr lang="en-US"/>
              <a:t>Repetitive Link Reconstruction Performance Hits@1 </a:t>
            </a:r>
          </a:p>
        </p:txBody>
      </p:sp>
      <p:sp>
        <p:nvSpPr>
          <p:cNvPr id="3" name="Rectangle 4">
            <a:extLst>
              <a:ext uri="{FF2B5EF4-FFF2-40B4-BE49-F238E27FC236}">
                <a16:creationId xmlns:a16="http://schemas.microsoft.com/office/drawing/2014/main" id="{5E9CB516-5FD0-73DA-1FB7-5C7C156FBFC5}"/>
              </a:ext>
            </a:extLst>
          </p:cNvPr>
          <p:cNvSpPr/>
          <p:nvPr/>
        </p:nvSpPr>
        <p:spPr>
          <a:xfrm>
            <a:off x="-901698" y="3312322"/>
            <a:ext cx="12573000" cy="365129"/>
          </a:xfrm>
          <a:prstGeom prst="rect">
            <a:avLst/>
          </a:prstGeom>
          <a:noFill/>
          <a:ln cap="flat">
            <a:noFill/>
            <a:prstDash val="solid"/>
          </a:ln>
        </p:spPr>
        <p:txBody>
          <a:bodyPr vert="horz" wrap="square" lIns="91440" tIns="45720" rIns="91440" bIns="45720" anchor="ctr" anchorCtr="0" compatLnSpc="1">
            <a:spAutoFit/>
          </a:bodyPr>
          <a:lstStyle/>
          <a:p>
            <a:pPr marL="0" marR="0" lvl="0" indent="0" algn="r" defTabSz="914400" rtl="1"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Aptos"/>
            </a:endParaRPr>
          </a:p>
        </p:txBody>
      </p:sp>
      <p:sp>
        <p:nvSpPr>
          <p:cNvPr id="4" name="Rectangle 6">
            <a:extLst>
              <a:ext uri="{FF2B5EF4-FFF2-40B4-BE49-F238E27FC236}">
                <a16:creationId xmlns:a16="http://schemas.microsoft.com/office/drawing/2014/main" id="{114A81A6-C9F7-D066-7620-A34A4ED7993B}"/>
              </a:ext>
            </a:extLst>
          </p:cNvPr>
          <p:cNvSpPr/>
          <p:nvPr/>
        </p:nvSpPr>
        <p:spPr>
          <a:xfrm>
            <a:off x="0" y="0"/>
            <a:ext cx="12191996" cy="0"/>
          </a:xfrm>
          <a:prstGeom prst="rect">
            <a:avLst/>
          </a:prstGeom>
          <a:noFill/>
          <a:ln cap="flat">
            <a:noFill/>
            <a:prstDash val="solid"/>
          </a:ln>
        </p:spPr>
        <p:txBody>
          <a:bodyPr vert="horz" wrap="none" lIns="91440" tIns="45720" rIns="91440" bIns="45720" anchor="ctr" anchorCtr="0" compatLnSpc="1">
            <a:spAutoFit/>
          </a:bodyPr>
          <a:lstStyle/>
          <a:p>
            <a:pPr marL="0" marR="0" lvl="0" indent="0" algn="r" defTabSz="914400" rtl="1"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Aptos"/>
            </a:endParaRPr>
          </a:p>
        </p:txBody>
      </p:sp>
      <p:graphicFrame>
        <p:nvGraphicFramePr>
          <p:cNvPr id="5" name="אובייקט 11">
            <a:extLst>
              <a:ext uri="{FF2B5EF4-FFF2-40B4-BE49-F238E27FC236}">
                <a16:creationId xmlns:a16="http://schemas.microsoft.com/office/drawing/2014/main" id="{D9572ED5-8414-C413-8F3C-3AD380CF11CA}"/>
              </a:ext>
            </a:extLst>
          </p:cNvPr>
          <p:cNvGraphicFramePr/>
          <p:nvPr/>
        </p:nvGraphicFramePr>
        <p:xfrm>
          <a:off x="465758" y="1325313"/>
          <a:ext cx="11175659" cy="3974009"/>
        </p:xfrm>
        <a:graphic>
          <a:graphicData uri="http://schemas.openxmlformats.org/presentationml/2006/ole">
            <mc:AlternateContent xmlns:mc="http://schemas.openxmlformats.org/markup-compatibility/2006">
              <mc:Choice xmlns:v="urn:schemas-microsoft-com:vml" Requires="v">
                <p:oleObj r:id="rId2" imgW="18338488" imgH="4583220" progId="">
                  <p:embed/>
                </p:oleObj>
              </mc:Choice>
              <mc:Fallback>
                <p:oleObj r:id="rId2" imgW="18338488" imgH="4583220" progId="">
                  <p:embed/>
                  <p:pic>
                    <p:nvPicPr>
                      <p:cNvPr id="5" name="אובייקט 11">
                        <a:extLst>
                          <a:ext uri="{FF2B5EF4-FFF2-40B4-BE49-F238E27FC236}">
                            <a16:creationId xmlns:a16="http://schemas.microsoft.com/office/drawing/2014/main" id="{D9572ED5-8414-C413-8F3C-3AD380CF11CA}"/>
                          </a:ext>
                        </a:extLst>
                      </p:cNvPr>
                      <p:cNvPicPr/>
                      <p:nvPr/>
                    </p:nvPicPr>
                    <p:blipFill>
                      <a:blip r:embed="rId3"/>
                      <a:stretch>
                        <a:fillRect/>
                      </a:stretch>
                    </p:blipFill>
                    <p:spPr>
                      <a:xfrm>
                        <a:off x="465758" y="1325313"/>
                        <a:ext cx="11175659" cy="3974009"/>
                      </a:xfrm>
                      <a:prstGeom prst="rect">
                        <a:avLst/>
                      </a:prstGeom>
                      <a:noFill/>
                      <a:ln cap="flat">
                        <a:noFill/>
                      </a:ln>
                    </p:spPr>
                  </p:pic>
                </p:oleObj>
              </mc:Fallback>
            </mc:AlternateContent>
          </a:graphicData>
        </a:graphic>
      </p:graphicFrame>
      <p:sp>
        <p:nvSpPr>
          <p:cNvPr id="6" name="תיבת טקסט 13">
            <a:extLst>
              <a:ext uri="{FF2B5EF4-FFF2-40B4-BE49-F238E27FC236}">
                <a16:creationId xmlns:a16="http://schemas.microsoft.com/office/drawing/2014/main" id="{DE069AC8-341A-AF59-4020-449B4C7B5E26}"/>
              </a:ext>
            </a:extLst>
          </p:cNvPr>
          <p:cNvSpPr txBox="1"/>
          <p:nvPr/>
        </p:nvSpPr>
        <p:spPr>
          <a:xfrm>
            <a:off x="3247839" y="5787100"/>
            <a:ext cx="6546847" cy="646334"/>
          </a:xfrm>
          <a:prstGeom prst="rect">
            <a:avLst/>
          </a:prstGeom>
          <a:noFill/>
          <a:ln cap="flat">
            <a:noFill/>
          </a:ln>
        </p:spPr>
        <p:txBody>
          <a:bodyPr vert="horz" wrap="square" lIns="91440" tIns="45720" rIns="91440" bIns="45720" anchor="t" anchorCtr="1" compatLnSpc="1">
            <a:spAutoFit/>
          </a:bodyPr>
          <a:lstStyle/>
          <a:p>
            <a:pPr marL="0" marR="0" lvl="0" indent="0" algn="ctr" defTabSz="914400" rtl="1"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800" b="1" i="0" u="none" strike="noStrike" kern="0" cap="none" spc="0" baseline="0">
                <a:solidFill>
                  <a:srgbClr val="000000"/>
                </a:solidFill>
                <a:uFillTx/>
                <a:latin typeface="Aptos" pitchFamily="34"/>
                <a:ea typeface="Times New Roman" pitchFamily="18"/>
                <a:cs typeface="Times New Roman" pitchFamily="18"/>
              </a:rPr>
              <a:t>Hits@1</a:t>
            </a:r>
            <a:br>
              <a:rPr lang="en-US" sz="1800" b="1" i="0" u="none" strike="noStrike" kern="0" cap="none" spc="0" baseline="0">
                <a:solidFill>
                  <a:srgbClr val="000000"/>
                </a:solidFill>
                <a:uFillTx/>
                <a:latin typeface="Aptos" pitchFamily="34"/>
                <a:ea typeface="Times New Roman" pitchFamily="18"/>
                <a:cs typeface="Times New Roman" pitchFamily="18"/>
              </a:rPr>
            </a:br>
            <a:r>
              <a:rPr lang="en-US" sz="1800" b="0" i="0" u="none" strike="noStrike" kern="1200" cap="none" spc="0" baseline="0">
                <a:solidFill>
                  <a:srgbClr val="000000"/>
                </a:solidFill>
                <a:uFillTx/>
                <a:latin typeface="Aptos"/>
              </a:rPr>
              <a:t>Result: 0.58%</a:t>
            </a:r>
          </a:p>
        </p:txBody>
      </p:sp>
      <p:sp>
        <p:nvSpPr>
          <p:cNvPr id="7" name="TextBox 3">
            <a:extLst>
              <a:ext uri="{FF2B5EF4-FFF2-40B4-BE49-F238E27FC236}">
                <a16:creationId xmlns:a16="http://schemas.microsoft.com/office/drawing/2014/main" id="{7F0A7E5B-34C5-4218-9CB8-AEC3D62E65BF}"/>
              </a:ext>
            </a:extLst>
          </p:cNvPr>
          <p:cNvSpPr txBox="1"/>
          <p:nvPr/>
        </p:nvSpPr>
        <p:spPr>
          <a:xfrm>
            <a:off x="3049825" y="5348023"/>
            <a:ext cx="6942865" cy="369335"/>
          </a:xfrm>
          <a:prstGeom prst="rect">
            <a:avLst/>
          </a:prstGeom>
          <a:noFill/>
          <a:ln cap="flat">
            <a:noFill/>
          </a:ln>
        </p:spPr>
        <p:txBody>
          <a:bodyPr vert="horz" wrap="square" lIns="91440" tIns="45720" rIns="91440" bIns="45720" anchor="t" anchorCtr="1" compatLnSpc="1">
            <a:spAutoFit/>
          </a:bodyPr>
          <a:lstStyle/>
          <a:p>
            <a:pPr marL="0" marR="0" lvl="0" indent="0" algn="ctr" defTabSz="914400" rtl="1"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800" b="0" i="0" u="none" strike="noStrike" kern="1200" cap="none" spc="0" baseline="0">
                <a:solidFill>
                  <a:srgbClr val="000000"/>
                </a:solidFill>
                <a:uFillTx/>
                <a:latin typeface="Aptos" pitchFamily="34"/>
                <a:ea typeface="Aptos" pitchFamily="34"/>
                <a:cs typeface="Arial" pitchFamily="34"/>
              </a:rPr>
              <a:t>First Rank Accuracy vs Iteration</a:t>
            </a:r>
            <a:endParaRPr lang="en-IL" sz="1800" b="0" i="0" u="none" strike="noStrike" kern="1200" cap="none" spc="0" baseline="0">
              <a:solidFill>
                <a:srgbClr val="000000"/>
              </a:solidFill>
              <a:uFillTx/>
              <a:latin typeface="Apto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תיבת טקסט 5">
            <a:extLst>
              <a:ext uri="{FF2B5EF4-FFF2-40B4-BE49-F238E27FC236}">
                <a16:creationId xmlns:a16="http://schemas.microsoft.com/office/drawing/2014/main" id="{4B73849C-B454-D52E-D231-F6778C3B7CBF}"/>
              </a:ext>
            </a:extLst>
          </p:cNvPr>
          <p:cNvSpPr txBox="1"/>
          <p:nvPr/>
        </p:nvSpPr>
        <p:spPr>
          <a:xfrm>
            <a:off x="3047996" y="5597673"/>
            <a:ext cx="6096003" cy="646334"/>
          </a:xfrm>
          <a:prstGeom prst="rect">
            <a:avLst/>
          </a:prstGeom>
          <a:noFill/>
          <a:ln cap="flat">
            <a:noFill/>
          </a:ln>
        </p:spPr>
        <p:txBody>
          <a:bodyPr vert="horz" wrap="square" lIns="91440" tIns="45720" rIns="91440" bIns="45720" anchor="t" anchorCtr="1" compatLnSpc="1">
            <a:spAutoFit/>
          </a:bodyPr>
          <a:lstStyle/>
          <a:p>
            <a:pPr marL="0" marR="0" lvl="0" indent="0" algn="ctr" defTabSz="914400" rtl="1"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800" b="1" i="0" u="none" strike="noStrike" kern="0" cap="none" spc="0" baseline="0">
                <a:solidFill>
                  <a:srgbClr val="000000"/>
                </a:solidFill>
                <a:uFillTx/>
                <a:latin typeface="Aptos" pitchFamily="34"/>
                <a:ea typeface="Times New Roman" pitchFamily="18"/>
                <a:cs typeface="Times New Roman" pitchFamily="18"/>
              </a:rPr>
              <a:t>Hits@100</a:t>
            </a:r>
            <a:br>
              <a:rPr lang="en-US" sz="1800" b="1" i="0" u="none" strike="noStrike" kern="0" cap="none" spc="0" baseline="0">
                <a:solidFill>
                  <a:srgbClr val="000000"/>
                </a:solidFill>
                <a:uFillTx/>
                <a:latin typeface="Aptos" pitchFamily="34"/>
                <a:ea typeface="Times New Roman" pitchFamily="18"/>
                <a:cs typeface="Times New Roman" pitchFamily="18"/>
              </a:rPr>
            </a:br>
            <a:r>
              <a:rPr lang="en-US" sz="1800" b="0" i="0" u="none" strike="noStrike" kern="1200" cap="none" spc="0" baseline="0">
                <a:solidFill>
                  <a:srgbClr val="000000"/>
                </a:solidFill>
                <a:uFillTx/>
                <a:latin typeface="Aptos"/>
              </a:rPr>
              <a:t>Result: 14.32% (mean across 5 iterations)</a:t>
            </a:r>
          </a:p>
        </p:txBody>
      </p:sp>
      <p:sp>
        <p:nvSpPr>
          <p:cNvPr id="3" name="Rectangle 2">
            <a:extLst>
              <a:ext uri="{FF2B5EF4-FFF2-40B4-BE49-F238E27FC236}">
                <a16:creationId xmlns:a16="http://schemas.microsoft.com/office/drawing/2014/main" id="{96AFEDF4-16EA-3ED9-9B85-1538187F0AC8}"/>
              </a:ext>
            </a:extLst>
          </p:cNvPr>
          <p:cNvSpPr/>
          <p:nvPr/>
        </p:nvSpPr>
        <p:spPr>
          <a:xfrm>
            <a:off x="1236597" y="3306287"/>
            <a:ext cx="15498083" cy="0"/>
          </a:xfrm>
          <a:prstGeom prst="rect">
            <a:avLst/>
          </a:prstGeom>
          <a:noFill/>
          <a:ln cap="flat">
            <a:noFill/>
            <a:prstDash val="solid"/>
          </a:ln>
        </p:spPr>
        <p:txBody>
          <a:bodyPr vert="horz" wrap="square" lIns="91440" tIns="45720" rIns="91440" bIns="45720" anchor="ctr" anchorCtr="0" compatLnSpc="1">
            <a:spAutoFit/>
          </a:bodyPr>
          <a:lstStyle/>
          <a:p>
            <a:pPr marL="0" marR="0" lvl="0" indent="0" algn="r" defTabSz="914400" rtl="1"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000000"/>
              </a:solidFill>
              <a:uFillTx/>
              <a:latin typeface="Aptos"/>
            </a:endParaRPr>
          </a:p>
        </p:txBody>
      </p:sp>
      <p:graphicFrame>
        <p:nvGraphicFramePr>
          <p:cNvPr id="4" name="אובייקט 7">
            <a:extLst>
              <a:ext uri="{FF2B5EF4-FFF2-40B4-BE49-F238E27FC236}">
                <a16:creationId xmlns:a16="http://schemas.microsoft.com/office/drawing/2014/main" id="{C6A56B7D-2C11-37BA-43E2-38C715739804}"/>
              </a:ext>
            </a:extLst>
          </p:cNvPr>
          <p:cNvGraphicFramePr/>
          <p:nvPr/>
        </p:nvGraphicFramePr>
        <p:xfrm>
          <a:off x="379887" y="1629698"/>
          <a:ext cx="11432221" cy="3598593"/>
        </p:xfrm>
        <a:graphic>
          <a:graphicData uri="http://schemas.openxmlformats.org/presentationml/2006/ole">
            <mc:AlternateContent xmlns:mc="http://schemas.openxmlformats.org/markup-compatibility/2006">
              <mc:Choice xmlns:v="urn:schemas-microsoft-com:vml" Requires="v">
                <p:oleObj r:id="rId2" imgW="18338488" imgH="4583220" progId="">
                  <p:embed/>
                </p:oleObj>
              </mc:Choice>
              <mc:Fallback>
                <p:oleObj r:id="rId2" imgW="18338488" imgH="4583220" progId="">
                  <p:embed/>
                  <p:pic>
                    <p:nvPicPr>
                      <p:cNvPr id="4" name="אובייקט 7">
                        <a:extLst>
                          <a:ext uri="{FF2B5EF4-FFF2-40B4-BE49-F238E27FC236}">
                            <a16:creationId xmlns:a16="http://schemas.microsoft.com/office/drawing/2014/main" id="{C6A56B7D-2C11-37BA-43E2-38C715739804}"/>
                          </a:ext>
                        </a:extLst>
                      </p:cNvPr>
                      <p:cNvPicPr/>
                      <p:nvPr/>
                    </p:nvPicPr>
                    <p:blipFill>
                      <a:blip r:embed="rId3"/>
                      <a:stretch>
                        <a:fillRect/>
                      </a:stretch>
                    </p:blipFill>
                    <p:spPr>
                      <a:xfrm>
                        <a:off x="379887" y="1629698"/>
                        <a:ext cx="11432221" cy="3598593"/>
                      </a:xfrm>
                      <a:prstGeom prst="rect">
                        <a:avLst/>
                      </a:prstGeom>
                      <a:noFill/>
                      <a:ln cap="flat">
                        <a:noFill/>
                      </a:ln>
                    </p:spPr>
                  </p:pic>
                </p:oleObj>
              </mc:Fallback>
            </mc:AlternateContent>
          </a:graphicData>
        </a:graphic>
      </p:graphicFrame>
      <p:sp>
        <p:nvSpPr>
          <p:cNvPr id="5" name="TextBox 3">
            <a:extLst>
              <a:ext uri="{FF2B5EF4-FFF2-40B4-BE49-F238E27FC236}">
                <a16:creationId xmlns:a16="http://schemas.microsoft.com/office/drawing/2014/main" id="{46DB6841-A9CF-D1C9-9776-AFE73AF23F21}"/>
              </a:ext>
            </a:extLst>
          </p:cNvPr>
          <p:cNvSpPr txBox="1"/>
          <p:nvPr/>
        </p:nvSpPr>
        <p:spPr>
          <a:xfrm>
            <a:off x="-861017" y="71176"/>
            <a:ext cx="12983657" cy="738661"/>
          </a:xfrm>
          <a:prstGeom prst="rect">
            <a:avLst/>
          </a:prstGeom>
          <a:noFill/>
          <a:ln cap="flat">
            <a:noFill/>
          </a:ln>
        </p:spPr>
        <p:txBody>
          <a:bodyPr vert="horz" wrap="square" lIns="91440" tIns="45720" rIns="91440" bIns="45720" anchor="t" anchorCtr="0" compatLnSpc="1">
            <a:spAutoFit/>
          </a:bodyPr>
          <a:lstStyle/>
          <a:p>
            <a:pPr marL="0" marR="0" lvl="0" indent="0" algn="r" defTabSz="914400" rtl="1"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4200" b="0" i="0" u="none" strike="noStrike" kern="1200" cap="none" spc="0" baseline="0">
                <a:solidFill>
                  <a:srgbClr val="000000"/>
                </a:solidFill>
                <a:uFillTx/>
                <a:latin typeface="Aptos Display"/>
              </a:rPr>
              <a:t>Repetitive Link Reconstruction Performance Hits@100 </a:t>
            </a:r>
            <a:endParaRPr lang="en-IL" sz="4200" b="0" i="0" u="none" strike="noStrike" kern="1200" cap="none" spc="0" baseline="0">
              <a:solidFill>
                <a:srgbClr val="000000"/>
              </a:solidFill>
              <a:uFillTx/>
              <a:latin typeface="Aptos Display"/>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4888677A-A790-48F4-ED08-2B9AC7F5BE73}"/>
              </a:ext>
            </a:extLst>
          </p:cNvPr>
          <p:cNvSpPr>
            <a:spLocks noGrp="1"/>
          </p:cNvSpPr>
          <p:nvPr>
            <p:ph type="title"/>
          </p:nvPr>
        </p:nvSpPr>
        <p:spPr>
          <a:xfrm>
            <a:off x="532944" y="92721"/>
            <a:ext cx="9910107" cy="938032"/>
          </a:xfrm>
        </p:spPr>
        <p:txBody>
          <a:bodyPr/>
          <a:lstStyle/>
          <a:p>
            <a:pPr algn="l" rtl="0"/>
            <a:r>
              <a:rPr lang="en-US" dirty="0"/>
              <a:t>Conclusion</a:t>
            </a:r>
          </a:p>
        </p:txBody>
      </p:sp>
      <p:sp>
        <p:nvSpPr>
          <p:cNvPr id="4" name="מציין מיקום של מספר שקופית 3">
            <a:extLst>
              <a:ext uri="{FF2B5EF4-FFF2-40B4-BE49-F238E27FC236}">
                <a16:creationId xmlns:a16="http://schemas.microsoft.com/office/drawing/2014/main" id="{5E0B86C8-2642-82E6-5249-7B64C2B26B36}"/>
              </a:ext>
            </a:extLst>
          </p:cNvPr>
          <p:cNvSpPr>
            <a:spLocks noGrp="1"/>
          </p:cNvSpPr>
          <p:nvPr>
            <p:ph type="sldNum" sz="quarter" idx="12"/>
          </p:nvPr>
        </p:nvSpPr>
        <p:spPr/>
        <p:txBody>
          <a:bodyPr/>
          <a:lstStyle/>
          <a:p>
            <a:fld id="{E8857CA7-8CDB-4DCB-9E96-A9FC7D5F934F}" type="slidenum">
              <a:rPr lang="en-US" smtClean="0"/>
              <a:t>22</a:t>
            </a:fld>
            <a:endParaRPr lang="en-US"/>
          </a:p>
        </p:txBody>
      </p:sp>
      <p:sp>
        <p:nvSpPr>
          <p:cNvPr id="11" name="TextBox 10">
            <a:extLst>
              <a:ext uri="{FF2B5EF4-FFF2-40B4-BE49-F238E27FC236}">
                <a16:creationId xmlns:a16="http://schemas.microsoft.com/office/drawing/2014/main" id="{DE65DD1D-F271-BCDA-411B-9E22851AF3B5}"/>
              </a:ext>
            </a:extLst>
          </p:cNvPr>
          <p:cNvSpPr txBox="1"/>
          <p:nvPr/>
        </p:nvSpPr>
        <p:spPr>
          <a:xfrm>
            <a:off x="532944" y="1030753"/>
            <a:ext cx="6096912" cy="2862322"/>
          </a:xfrm>
          <a:prstGeom prst="rect">
            <a:avLst/>
          </a:prstGeom>
          <a:noFill/>
        </p:spPr>
        <p:txBody>
          <a:bodyPr wrap="square">
            <a:spAutoFit/>
          </a:bodyPr>
          <a:lstStyle/>
          <a:p>
            <a:pPr algn="l" rtl="0"/>
            <a:r>
              <a:rPr lang="en-US" sz="1800" b="1" dirty="0"/>
              <a:t>Key Achievements:</a:t>
            </a:r>
            <a:endParaRPr lang="en-IL" sz="1800" b="1" dirty="0"/>
          </a:p>
          <a:p>
            <a:pPr algn="l" rtl="0"/>
            <a:r>
              <a:rPr lang="en-US" sz="1800" b="1" dirty="0"/>
              <a:t>Excellent Performance:</a:t>
            </a:r>
            <a:r>
              <a:rPr lang="en-US" sz="1800" dirty="0"/>
              <a:t> AUC 0.816-0.818, Recall 92.97% - strong link prediction on sparse CORA-Full network</a:t>
            </a:r>
          </a:p>
          <a:p>
            <a:pPr algn="l" rtl="0"/>
            <a:r>
              <a:rPr lang="en-US" sz="1800" b="1" dirty="0"/>
              <a:t>Dual Architecture Success:</a:t>
            </a:r>
            <a:r>
              <a:rPr lang="en-US" sz="1800" dirty="0"/>
              <a:t> Minimal gap (0.002 AUC) between connectivity vs. directionality tasks proves balanced learning</a:t>
            </a:r>
          </a:p>
          <a:p>
            <a:pPr algn="l" rtl="0"/>
            <a:r>
              <a:rPr lang="en-US" sz="1800" b="1" dirty="0"/>
              <a:t>Stable Convergence:</a:t>
            </a:r>
            <a:r>
              <a:rPr lang="en-US" sz="1800" dirty="0"/>
              <a:t> 100 epochs without mode collapse; GAN dynamics work as designed</a:t>
            </a:r>
          </a:p>
          <a:p>
            <a:pPr algn="l" rtl="0"/>
            <a:r>
              <a:rPr lang="en-US" sz="1800" b="1" dirty="0"/>
              <a:t>Rapid Initial Learning:</a:t>
            </a:r>
            <a:r>
              <a:rPr lang="en-US" sz="1800" dirty="0"/>
              <a:t> 67% AUC jump in first 5 epochs demonstrates efficient pattern learning</a:t>
            </a:r>
          </a:p>
        </p:txBody>
      </p:sp>
    </p:spTree>
    <p:extLst>
      <p:ext uri="{BB962C8B-B14F-4D97-AF65-F5344CB8AC3E}">
        <p14:creationId xmlns:p14="http://schemas.microsoft.com/office/powerpoint/2010/main" val="41425832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02223000-19C6-B4C5-2313-DAA6D108EA00}"/>
              </a:ext>
            </a:extLst>
          </p:cNvPr>
          <p:cNvSpPr>
            <a:spLocks noGrp="1"/>
          </p:cNvSpPr>
          <p:nvPr>
            <p:ph type="title"/>
          </p:nvPr>
        </p:nvSpPr>
        <p:spPr>
          <a:xfrm>
            <a:off x="307082" y="272043"/>
            <a:ext cx="9565153" cy="609505"/>
          </a:xfrm>
        </p:spPr>
        <p:txBody>
          <a:bodyPr>
            <a:normAutofit fontScale="90000"/>
          </a:bodyPr>
          <a:lstStyle/>
          <a:p>
            <a:pPr algn="l" rtl="0"/>
            <a:r>
              <a:rPr lang="en-US" dirty="0"/>
              <a:t>Future Work</a:t>
            </a:r>
          </a:p>
        </p:txBody>
      </p:sp>
      <p:sp>
        <p:nvSpPr>
          <p:cNvPr id="7" name="מציין מיקום תוכן 2">
            <a:extLst>
              <a:ext uri="{FF2B5EF4-FFF2-40B4-BE49-F238E27FC236}">
                <a16:creationId xmlns:a16="http://schemas.microsoft.com/office/drawing/2014/main" id="{09DEF4A0-575B-17C8-8814-DA6D9A9B03DF}"/>
              </a:ext>
            </a:extLst>
          </p:cNvPr>
          <p:cNvSpPr>
            <a:spLocks noGrp="1"/>
          </p:cNvSpPr>
          <p:nvPr>
            <p:ph idx="1"/>
          </p:nvPr>
        </p:nvSpPr>
        <p:spPr>
          <a:xfrm>
            <a:off x="443966" y="1074557"/>
            <a:ext cx="7516768" cy="2000388"/>
          </a:xfrm>
        </p:spPr>
        <p:txBody>
          <a:bodyPr>
            <a:noAutofit/>
          </a:bodyPr>
          <a:lstStyle/>
          <a:p>
            <a:pPr algn="l" rtl="0"/>
            <a:r>
              <a:rPr lang="en-US" sz="2000" dirty="0"/>
              <a:t>Train a DGGAN model on diverse directed graph datasets.</a:t>
            </a:r>
          </a:p>
          <a:p>
            <a:pPr algn="l" rtl="0"/>
            <a:r>
              <a:rPr lang="en-US" sz="2000" dirty="0"/>
              <a:t>Improve Discriminator/Generator stability (add more epochs to the discriminator, add more layers to its architecture, etc.)</a:t>
            </a:r>
          </a:p>
          <a:p>
            <a:pPr algn="l" rtl="0"/>
            <a:r>
              <a:rPr lang="en-US" sz="2000" dirty="0"/>
              <a:t>Try different model architectures for both Discriminator and Generator.</a:t>
            </a:r>
          </a:p>
          <a:p>
            <a:pPr algn="l" rtl="0"/>
            <a:r>
              <a:rPr lang="en-US" sz="2000" dirty="0"/>
              <a:t>Implement Early Stopping</a:t>
            </a:r>
          </a:p>
        </p:txBody>
      </p:sp>
    </p:spTree>
    <p:extLst>
      <p:ext uri="{BB962C8B-B14F-4D97-AF65-F5344CB8AC3E}">
        <p14:creationId xmlns:p14="http://schemas.microsoft.com/office/powerpoint/2010/main" val="41519939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B35CAA5-B3B3-F05C-B1EC-E2690749CA7B}"/>
              </a:ext>
            </a:extLst>
          </p:cNvPr>
          <p:cNvSpPr>
            <a:spLocks noGrp="1"/>
          </p:cNvSpPr>
          <p:nvPr>
            <p:ph type="sldNum" sz="quarter" idx="12"/>
          </p:nvPr>
        </p:nvSpPr>
        <p:spPr/>
        <p:txBody>
          <a:bodyPr/>
          <a:lstStyle/>
          <a:p>
            <a:fld id="{E8857CA7-8CDB-4DCB-9E96-A9FC7D5F934F}" type="slidenum">
              <a:rPr lang="en-US" smtClean="0"/>
              <a:t>24</a:t>
            </a:fld>
            <a:endParaRPr lang="en-US"/>
          </a:p>
        </p:txBody>
      </p:sp>
      <p:pic>
        <p:nvPicPr>
          <p:cNvPr id="3074" name="Picture 2" descr="1,800+ Thank You Presentation Stock Photos, Pictures &amp; Royalty-Free Images  - iStock">
            <a:extLst>
              <a:ext uri="{FF2B5EF4-FFF2-40B4-BE49-F238E27FC236}">
                <a16:creationId xmlns:a16="http://schemas.microsoft.com/office/drawing/2014/main" id="{16D46216-A04B-AF9D-669E-A65C039CFEF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20086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66062189"/>
      </p:ext>
    </p:extLst>
  </p:cSld>
  <p:clrMapOvr>
    <a:masterClrMapping/>
  </p:clrMapOvr>
</p:sld>
</file>

<file path=ppt/theme/theme1.xml><?xml version="1.0" encoding="utf-8"?>
<a:theme xmlns:a="http://schemas.openxmlformats.org/drawingml/2006/main" name="ערכת נושא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ערכת נושא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ערכת נושא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6874</TotalTime>
  <Words>902</Words>
  <Application>Microsoft Office PowerPoint</Application>
  <PresentationFormat>מסך רחב</PresentationFormat>
  <Paragraphs>106</Paragraphs>
  <Slides>24</Slides>
  <Notes>3</Notes>
  <HiddenSlides>0</HiddenSlides>
  <MMClips>0</MMClips>
  <ScaleCrop>false</ScaleCrop>
  <HeadingPairs>
    <vt:vector size="8" baseType="variant">
      <vt:variant>
        <vt:lpstr>גופנים בשימוש</vt:lpstr>
      </vt:variant>
      <vt:variant>
        <vt:i4>5</vt:i4>
      </vt:variant>
      <vt:variant>
        <vt:lpstr>ערכת נושא</vt:lpstr>
      </vt:variant>
      <vt:variant>
        <vt:i4>1</vt:i4>
      </vt:variant>
      <vt:variant>
        <vt:lpstr>שרתי OLE מוטבעים</vt:lpstr>
      </vt:variant>
      <vt:variant>
        <vt:i4>0</vt:i4>
      </vt:variant>
      <vt:variant>
        <vt:lpstr>כותרות שקופיות</vt:lpstr>
      </vt:variant>
      <vt:variant>
        <vt:i4>24</vt:i4>
      </vt:variant>
    </vt:vector>
  </HeadingPairs>
  <TitlesOfParts>
    <vt:vector size="30" baseType="lpstr">
      <vt:lpstr>Aptos</vt:lpstr>
      <vt:lpstr>Aptos Display</vt:lpstr>
      <vt:lpstr>Arial</vt:lpstr>
      <vt:lpstr>Calibri</vt:lpstr>
      <vt:lpstr>Fira Sans Condensed</vt:lpstr>
      <vt:lpstr>ערכת נושא Office</vt:lpstr>
      <vt:lpstr>Graph Embedding by Deep Generative Graph Adversarial Networks</vt:lpstr>
      <vt:lpstr>מצגת של PowerPoint‏</vt:lpstr>
      <vt:lpstr>Tools &amp; Libraries</vt:lpstr>
      <vt:lpstr>Link Prediction</vt:lpstr>
      <vt:lpstr>Challenges</vt:lpstr>
      <vt:lpstr>Challenges - 2</vt:lpstr>
      <vt:lpstr>Graph Embedding</vt:lpstr>
      <vt:lpstr>Generative Adversarial Network (GAN)</vt:lpstr>
      <vt:lpstr>DGGAN Architecture</vt:lpstr>
      <vt:lpstr>Generator Architecture</vt:lpstr>
      <vt:lpstr>Discriminator Architecture</vt:lpstr>
      <vt:lpstr>Dataset</vt:lpstr>
      <vt:lpstr>Edge Training Procedure</vt:lpstr>
      <vt:lpstr>Hyperparameters</vt:lpstr>
      <vt:lpstr>Learning Curve</vt:lpstr>
      <vt:lpstr>Results</vt:lpstr>
      <vt:lpstr>Dimensionality Reduction (t-SNE Visualization)</vt:lpstr>
      <vt:lpstr>Evaluation Flow</vt:lpstr>
      <vt:lpstr>Evaluation Results - Link Reconstruction Performance </vt:lpstr>
      <vt:lpstr>Repetitive Link Reconstruction Performance Hits@1 </vt:lpstr>
      <vt:lpstr>מצגת של PowerPoint‏</vt:lpstr>
      <vt:lpstr>Conclusion</vt:lpstr>
      <vt:lpstr>Future Work</vt:lpstr>
      <vt:lpstr>מצגת של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Orel Damti</dc:creator>
  <cp:lastModifiedBy>Orel Damti</cp:lastModifiedBy>
  <cp:revision>27</cp:revision>
  <dcterms:created xsi:type="dcterms:W3CDTF">2025-03-26T19:36:29Z</dcterms:created>
  <dcterms:modified xsi:type="dcterms:W3CDTF">2025-11-08T21:27:22Z</dcterms:modified>
</cp:coreProperties>
</file>